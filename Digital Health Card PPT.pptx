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84" r:id="rId3"/>
    <p:sldId id="263" r:id="rId4"/>
    <p:sldId id="262" r:id="rId5"/>
    <p:sldId id="257" r:id="rId6"/>
    <p:sldId id="264" r:id="rId7"/>
    <p:sldId id="258" r:id="rId8"/>
    <p:sldId id="259" r:id="rId9"/>
    <p:sldId id="260" r:id="rId10"/>
    <p:sldId id="261" r:id="rId11"/>
    <p:sldId id="276" r:id="rId12"/>
    <p:sldId id="277" r:id="rId13"/>
    <p:sldId id="272" r:id="rId14"/>
    <p:sldId id="273" r:id="rId15"/>
    <p:sldId id="274" r:id="rId16"/>
    <p:sldId id="279" r:id="rId17"/>
    <p:sldId id="280" r:id="rId18"/>
    <p:sldId id="281" r:id="rId19"/>
    <p:sldId id="282" r:id="rId20"/>
    <p:sldId id="283" r:id="rId21"/>
    <p:sldId id="271" r:id="rId22"/>
    <p:sldId id="269" r:id="rId23"/>
    <p:sldId id="270"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54942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044472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271134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20C8855-6882-4AD7-B13D-6553AEF0D6D0}" type="datetimeFigureOut">
              <a:rPr lang="en-IN" smtClean="0"/>
              <a:t>01-02-2026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637385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20C8855-6882-4AD7-B13D-6553AEF0D6D0}" type="datetimeFigureOut">
              <a:rPr lang="en-IN" smtClean="0"/>
              <a:t>01-02-2026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25746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20C8855-6882-4AD7-B13D-6553AEF0D6D0}" type="datetimeFigureOut">
              <a:rPr lang="en-IN" smtClean="0"/>
              <a:t>01-02-2026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81089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C8855-6882-4AD7-B13D-6553AEF0D6D0}" type="datetimeFigureOut">
              <a:rPr lang="en-IN" smtClean="0"/>
              <a:t>01-02-2026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18806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01-02-2026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60295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01-02-2026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68674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01-02-2026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101121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751349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795832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5552232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4110546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916062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683383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56853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0C8855-6882-4AD7-B13D-6553AEF0D6D0}" type="datetimeFigureOut">
              <a:rPr lang="en-IN" smtClean="0"/>
              <a:t>01-02-2026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519B6F-648A-4B8E-866A-FCA2E70D5839}" type="slidenum">
              <a:rPr lang="en-IN" smtClean="0"/>
              <a:t>‹#›</a:t>
            </a:fld>
            <a:endParaRPr lang="en-IN"/>
          </a:p>
        </p:txBody>
      </p:sp>
    </p:spTree>
    <p:extLst>
      <p:ext uri="{BB962C8B-B14F-4D97-AF65-F5344CB8AC3E}">
        <p14:creationId xmlns:p14="http://schemas.microsoft.com/office/powerpoint/2010/main" val="312108845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56199" y="2266681"/>
            <a:ext cx="6118677" cy="895512"/>
          </a:xfrm>
        </p:spPr>
        <p:txBody>
          <a:bodyPr>
            <a:normAutofit fontScale="90000"/>
          </a:bodyPr>
          <a:lstStyle/>
          <a:p>
            <a:r>
              <a:rPr lang="en-US" dirty="0" smtClean="0">
                <a:solidFill>
                  <a:schemeClr val="accent1">
                    <a:lumMod val="75000"/>
                  </a:schemeClr>
                </a:solidFill>
              </a:rPr>
              <a:t>Digital Health Card</a:t>
            </a:r>
            <a:endParaRPr lang="en-IN" dirty="0">
              <a:solidFill>
                <a:schemeClr val="accent1">
                  <a:lumMod val="75000"/>
                </a:schemeClr>
              </a:solidFill>
            </a:endParaRPr>
          </a:p>
        </p:txBody>
      </p:sp>
      <p:sp>
        <p:nvSpPr>
          <p:cNvPr id="3" name="Subtitle 2"/>
          <p:cNvSpPr>
            <a:spLocks noGrp="1"/>
          </p:cNvSpPr>
          <p:nvPr>
            <p:ph type="subTitle" idx="1"/>
          </p:nvPr>
        </p:nvSpPr>
        <p:spPr>
          <a:xfrm>
            <a:off x="5204355" y="4910668"/>
            <a:ext cx="6987645" cy="1388534"/>
          </a:xfrm>
        </p:spPr>
        <p:txBody>
          <a:bodyPr>
            <a:noAutofit/>
          </a:bodyPr>
          <a:lstStyle/>
          <a:p>
            <a:r>
              <a:rPr lang="en-IN" sz="1800" b="1" dirty="0" err="1"/>
              <a:t>Chandrakant</a:t>
            </a:r>
            <a:r>
              <a:rPr lang="en-IN" sz="1800" b="1" dirty="0"/>
              <a:t> </a:t>
            </a:r>
            <a:r>
              <a:rPr lang="en-IN" sz="1800" b="1" dirty="0" err="1"/>
              <a:t>Palandurkar</a:t>
            </a:r>
            <a:r>
              <a:rPr lang="en-IN" sz="1800" b="1" dirty="0"/>
              <a:t> (PRN: </a:t>
            </a:r>
            <a:r>
              <a:rPr lang="en-IN" sz="1800" b="1" dirty="0" smtClean="0"/>
              <a:t>250845920015)</a:t>
            </a:r>
          </a:p>
          <a:p>
            <a:r>
              <a:rPr lang="en-IN" sz="1800" b="1" dirty="0" smtClean="0"/>
              <a:t>    </a:t>
            </a:r>
            <a:r>
              <a:rPr lang="en-IN" sz="1800" b="1" dirty="0" err="1" smtClean="0"/>
              <a:t>Kedar</a:t>
            </a:r>
            <a:r>
              <a:rPr lang="en-IN" sz="1800" b="1" dirty="0" smtClean="0"/>
              <a:t> </a:t>
            </a:r>
            <a:r>
              <a:rPr lang="en-IN" sz="1800" b="1" dirty="0"/>
              <a:t>Mane (PRN: 250845920032</a:t>
            </a:r>
            <a:r>
              <a:rPr lang="en-IN" sz="1800" b="1" dirty="0" smtClean="0"/>
              <a:t>)</a:t>
            </a:r>
          </a:p>
          <a:p>
            <a:r>
              <a:rPr lang="en-IN" sz="1800" b="1" dirty="0" err="1" smtClean="0"/>
              <a:t>Poonam</a:t>
            </a:r>
            <a:r>
              <a:rPr lang="en-IN" sz="1800" b="1" dirty="0" smtClean="0"/>
              <a:t> </a:t>
            </a:r>
            <a:r>
              <a:rPr lang="en-IN" sz="1800" b="1" dirty="0"/>
              <a:t>Agrawal (PRN: 250845920050</a:t>
            </a:r>
            <a:r>
              <a:rPr lang="en-IN" sz="1800" b="1" dirty="0" smtClean="0"/>
              <a:t>)</a:t>
            </a:r>
          </a:p>
          <a:p>
            <a:r>
              <a:rPr lang="en-IN" sz="1800" b="1" dirty="0" smtClean="0"/>
              <a:t>Puja </a:t>
            </a:r>
            <a:r>
              <a:rPr lang="en-IN" sz="1800" b="1" dirty="0" err="1"/>
              <a:t>Ulhas</a:t>
            </a:r>
            <a:r>
              <a:rPr lang="en-IN" sz="1800" b="1" dirty="0"/>
              <a:t> </a:t>
            </a:r>
            <a:r>
              <a:rPr lang="en-IN" sz="1800" b="1" dirty="0" err="1"/>
              <a:t>Wagh</a:t>
            </a:r>
            <a:r>
              <a:rPr lang="en-IN" sz="1800" b="1" dirty="0"/>
              <a:t> (PRN: 250845920063</a:t>
            </a:r>
            <a:r>
              <a:rPr lang="en-IN" sz="1800" b="1" dirty="0" smtClean="0"/>
              <a:t>)</a:t>
            </a:r>
          </a:p>
          <a:p>
            <a:r>
              <a:rPr lang="en-IN" sz="1800" b="1" dirty="0" err="1" smtClean="0"/>
              <a:t>Waghmode</a:t>
            </a:r>
            <a:r>
              <a:rPr lang="en-IN" sz="1800" b="1" dirty="0" smtClean="0"/>
              <a:t> </a:t>
            </a:r>
            <a:r>
              <a:rPr lang="en-IN" sz="1800" b="1" dirty="0" err="1"/>
              <a:t>Vaibhavi</a:t>
            </a:r>
            <a:r>
              <a:rPr lang="en-IN" sz="1800" b="1" dirty="0"/>
              <a:t> (PRN: 250245920095</a:t>
            </a:r>
          </a:p>
        </p:txBody>
      </p:sp>
      <p:pic>
        <p:nvPicPr>
          <p:cNvPr id="4098" name="Picture 2" descr="CDAC IET | Pu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8177" y="58942"/>
            <a:ext cx="3429000" cy="1333501"/>
          </a:xfrm>
          <a:prstGeom prst="rect">
            <a:avLst/>
          </a:prstGeom>
          <a:noFill/>
          <a:ln>
            <a:solidFill>
              <a:schemeClr val="accent2">
                <a:lumMod val="20000"/>
                <a:lumOff val="80000"/>
              </a:schemeClr>
            </a:solidFill>
          </a:ln>
        </p:spPr>
      </p:pic>
    </p:spTree>
    <p:extLst>
      <p:ext uri="{BB962C8B-B14F-4D97-AF65-F5344CB8AC3E}">
        <p14:creationId xmlns:p14="http://schemas.microsoft.com/office/powerpoint/2010/main" val="8768246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32373" y="437882"/>
            <a:ext cx="3346172" cy="769441"/>
          </a:xfrm>
          <a:prstGeom prst="rect">
            <a:avLst/>
          </a:prstGeom>
          <a:noFill/>
        </p:spPr>
        <p:txBody>
          <a:bodyPr wrap="none" rtlCol="0">
            <a:spAutoFit/>
          </a:bodyPr>
          <a:lstStyle/>
          <a:p>
            <a:r>
              <a:rPr lang="en-US" sz="4400" dirty="0" err="1" smtClean="0">
                <a:solidFill>
                  <a:schemeClr val="accent1">
                    <a:lumMod val="75000"/>
                  </a:schemeClr>
                </a:solidFill>
                <a:latin typeface="Times New Roman" panose="02020603050405020304" pitchFamily="18" charset="0"/>
                <a:cs typeface="Times New Roman" panose="02020603050405020304" pitchFamily="18" charset="0"/>
              </a:rPr>
              <a:t>Aarogya</a:t>
            </a:r>
            <a:r>
              <a:rPr lang="en-US" sz="4400" dirty="0" smtClean="0">
                <a:solidFill>
                  <a:schemeClr val="accent1">
                    <a:lumMod val="75000"/>
                  </a:schemeClr>
                </a:solidFill>
                <a:latin typeface="Times New Roman" panose="02020603050405020304" pitchFamily="18" charset="0"/>
                <a:cs typeface="Times New Roman" panose="02020603050405020304" pitchFamily="18" charset="0"/>
              </a:rPr>
              <a:t> Card</a:t>
            </a:r>
            <a:endParaRPr lang="en-IN" sz="4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144897" y="117653"/>
            <a:ext cx="2095792" cy="1409897"/>
          </a:xfrm>
          <a:prstGeom prst="rect">
            <a:avLst/>
          </a:prstGeom>
        </p:spPr>
      </p:pic>
      <p:pic>
        <p:nvPicPr>
          <p:cNvPr id="4" name="Picture 3"/>
          <p:cNvPicPr>
            <a:picLocks noChangeAspect="1"/>
          </p:cNvPicPr>
          <p:nvPr/>
        </p:nvPicPr>
        <p:blipFill>
          <a:blip r:embed="rId3"/>
          <a:stretch>
            <a:fillRect/>
          </a:stretch>
        </p:blipFill>
        <p:spPr>
          <a:xfrm>
            <a:off x="381303" y="1764406"/>
            <a:ext cx="11377110" cy="4990693"/>
          </a:xfrm>
          <a:prstGeom prst="rect">
            <a:avLst/>
          </a:prstGeom>
        </p:spPr>
      </p:pic>
    </p:spTree>
    <p:extLst>
      <p:ext uri="{BB962C8B-B14F-4D97-AF65-F5344CB8AC3E}">
        <p14:creationId xmlns:p14="http://schemas.microsoft.com/office/powerpoint/2010/main" val="36212169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Digital Health Card System is a secure healthcare management platform that allows patients to access and manage their medical records digitally. The system eliminates the need for carrying physical medical reports by providing centralized, role-based access to patient health data. It involves </a:t>
            </a:r>
            <a:r>
              <a:rPr lang="en-US" sz="2000" dirty="0" smtClean="0">
                <a:latin typeface="Times New Roman" panose="02020603050405020304" pitchFamily="18" charset="0"/>
                <a:cs typeface="Times New Roman" panose="02020603050405020304" pitchFamily="18" charset="0"/>
              </a:rPr>
              <a:t>four</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 entities: Admin, Patient, Doctor, Lab </a:t>
            </a:r>
            <a:r>
              <a:rPr lang="en-US" sz="2000" dirty="0" smtClean="0">
                <a:latin typeface="Times New Roman" panose="02020603050405020304" pitchFamily="18" charset="0"/>
                <a:cs typeface="Times New Roman" panose="02020603050405020304" pitchFamily="18" charset="0"/>
              </a:rPr>
              <a:t>Technician. </a:t>
            </a:r>
            <a:r>
              <a:rPr lang="en-US" sz="2000" dirty="0" err="1">
                <a:latin typeface="Times New Roman" panose="02020603050405020304" pitchFamily="18" charset="0"/>
                <a:cs typeface="Times New Roman" panose="02020603050405020304" pitchFamily="18" charset="0"/>
              </a:rPr>
              <a:t>Aadhaar</a:t>
            </a:r>
            <a:r>
              <a:rPr lang="en-US" sz="2000" dirty="0">
                <a:latin typeface="Times New Roman" panose="02020603050405020304" pitchFamily="18" charset="0"/>
                <a:cs typeface="Times New Roman" panose="02020603050405020304" pitchFamily="18" charset="0"/>
              </a:rPr>
              <a:t>-based authentication, admin verification, and patient consent ensure data security, privacy, and controlled access to sensitive medical information.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981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fontScale="25000" lnSpcReduction="20000"/>
          </a:bodyPr>
          <a:lstStyle/>
          <a:p>
            <a:r>
              <a:rPr lang="en-US" sz="8000" dirty="0">
                <a:latin typeface="Times New Roman" panose="02020603050405020304" pitchFamily="18" charset="0"/>
                <a:cs typeface="Times New Roman" panose="02020603050405020304" pitchFamily="18" charset="0"/>
              </a:rPr>
              <a:t>In today’s fast-paced healthcare environment, managing medical records in physical form has become inefficient and unreliable. Patients often misplace reports or forget to carry them during consultations, leading to delays in diagnosis and treatment. Moreover, sharing medical data among healthcare providers remains a challenge due to the lack of a centralized and secure platform.</a:t>
            </a:r>
          </a:p>
          <a:p>
            <a:r>
              <a:rPr lang="en-US" sz="8000" dirty="0">
                <a:latin typeface="Times New Roman" panose="02020603050405020304" pitchFamily="18" charset="0"/>
                <a:cs typeface="Times New Roman" panose="02020603050405020304" pitchFamily="18" charset="0"/>
              </a:rPr>
              <a:t>The Digital Health Card System addresses these challenges by providing a secure digital solution for storing and accessing patient medical records. The system uses </a:t>
            </a:r>
            <a:r>
              <a:rPr lang="en-US" sz="8000" dirty="0" err="1">
                <a:latin typeface="Times New Roman" panose="02020603050405020304" pitchFamily="18" charset="0"/>
                <a:cs typeface="Times New Roman" panose="02020603050405020304" pitchFamily="18" charset="0"/>
              </a:rPr>
              <a:t>Aadhaar</a:t>
            </a:r>
            <a:r>
              <a:rPr lang="en-US" sz="8000" dirty="0">
                <a:latin typeface="Times New Roman" panose="02020603050405020304" pitchFamily="18" charset="0"/>
                <a:cs typeface="Times New Roman" panose="02020603050405020304" pitchFamily="18" charset="0"/>
              </a:rPr>
              <a:t>-based authentication to uniquely identify patients and generates a Health Card ID that acts as a digital identity for accessing medical data. With role-based access control, the system ensures that only authorized users such as doctors and lab technicians can upload or modify patient data after admin </a:t>
            </a:r>
            <a:r>
              <a:rPr lang="en-US" sz="8000" dirty="0" smtClean="0">
                <a:latin typeface="Times New Roman" panose="02020603050405020304" pitchFamily="18" charset="0"/>
                <a:cs typeface="Times New Roman" panose="02020603050405020304" pitchFamily="18" charset="0"/>
              </a:rPr>
              <a:t>verification. </a:t>
            </a:r>
            <a:r>
              <a:rPr lang="en-US" sz="8000" dirty="0">
                <a:latin typeface="Times New Roman" panose="02020603050405020304" pitchFamily="18" charset="0"/>
                <a:cs typeface="Times New Roman" panose="02020603050405020304" pitchFamily="18" charset="0"/>
              </a:rPr>
              <a:t>This system aims to improve healthcare efficiency, data accessibility, and patient safety.</a:t>
            </a:r>
          </a:p>
          <a:p>
            <a:endParaRPr lang="en-IN" dirty="0"/>
          </a:p>
        </p:txBody>
      </p:sp>
    </p:spTree>
    <p:extLst>
      <p:ext uri="{BB962C8B-B14F-4D97-AF65-F5344CB8AC3E}">
        <p14:creationId xmlns:p14="http://schemas.microsoft.com/office/powerpoint/2010/main" val="14769824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In the existing healthcare system, patients are required to carry physical medical reports during hospital visits or emergencies. These reports can be misplaced, damaged, or unavailable when urgently needed. There is no centralized, secure, and easily accessible digital platform that allows patients, doctors, and laboratories to manage medical records efficiently. Additionally, unauthorized access to sensitive health data and lack of patient consent mechanisms create privacy and security concerns. Hence, there is a need for a secure digital system that enables electronic storage, controlled access, and easy retrieval of medical records using reliable authentication methods.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1756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Digital Health Card System</a:t>
            </a:r>
            <a:r>
              <a:rPr lang="en-US" sz="2000" dirty="0">
                <a:latin typeface="Times New Roman" panose="02020603050405020304" pitchFamily="18" charset="0"/>
                <a:cs typeface="Times New Roman" panose="02020603050405020304" pitchFamily="18" charset="0"/>
              </a:rPr>
              <a:t> is designed to provide patients with secure digital access to their medical records, eliminating the need to carry physical reports. The system ensures centralized storage, controlled access, and role-based permissions for healthcare stakeholders.</a:t>
            </a:r>
          </a:p>
          <a:p>
            <a:r>
              <a:rPr lang="en-US" sz="2000" dirty="0">
                <a:latin typeface="Times New Roman" panose="02020603050405020304" pitchFamily="18" charset="0"/>
                <a:cs typeface="Times New Roman" panose="02020603050405020304" pitchFamily="18" charset="0"/>
              </a:rPr>
              <a:t>The system consists of </a:t>
            </a:r>
            <a:r>
              <a:rPr lang="en-US" sz="2000" b="1" dirty="0" smtClean="0">
                <a:latin typeface="Times New Roman" panose="02020603050405020304" pitchFamily="18" charset="0"/>
                <a:cs typeface="Times New Roman" panose="02020603050405020304" pitchFamily="18" charset="0"/>
              </a:rPr>
              <a:t>four </a:t>
            </a:r>
            <a:r>
              <a:rPr lang="en-US" sz="2000" b="1" dirty="0">
                <a:latin typeface="Times New Roman" panose="02020603050405020304" pitchFamily="18" charset="0"/>
                <a:cs typeface="Times New Roman" panose="02020603050405020304" pitchFamily="18" charset="0"/>
              </a:rPr>
              <a:t>main entities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Admin, Patient, </a:t>
            </a:r>
            <a:r>
              <a:rPr lang="en-US" sz="2000" b="1" dirty="0" smtClean="0">
                <a:latin typeface="Times New Roman" panose="02020603050405020304" pitchFamily="18" charset="0"/>
                <a:cs typeface="Times New Roman" panose="02020603050405020304" pitchFamily="18" charset="0"/>
              </a:rPr>
              <a:t>Doctor and </a:t>
            </a:r>
            <a:r>
              <a:rPr lang="en-US" sz="2000" b="1" dirty="0">
                <a:latin typeface="Times New Roman" panose="02020603050405020304" pitchFamily="18" charset="0"/>
                <a:cs typeface="Times New Roman" panose="02020603050405020304" pitchFamily="18" charset="0"/>
              </a:rPr>
              <a:t>Lab Technician</a:t>
            </a:r>
            <a:r>
              <a:rPr lang="en-US"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0173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a:t>
            </a:r>
            <a:endParaRPr lang="en-IN" dirty="0"/>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aim of the </a:t>
            </a:r>
            <a:r>
              <a:rPr lang="en-US" sz="2000" b="1" dirty="0">
                <a:latin typeface="Times New Roman" panose="02020603050405020304" pitchFamily="18" charset="0"/>
                <a:cs typeface="Times New Roman" panose="02020603050405020304" pitchFamily="18" charset="0"/>
              </a:rPr>
              <a:t>Digital Health Card System</a:t>
            </a:r>
            <a:r>
              <a:rPr lang="en-US" sz="2000" dirty="0">
                <a:latin typeface="Times New Roman" panose="02020603050405020304" pitchFamily="18" charset="0"/>
                <a:cs typeface="Times New Roman" panose="02020603050405020304" pitchFamily="18" charset="0"/>
              </a:rPr>
              <a:t> is to provide a secure, centralized, and digital platform for managing patient medical records, enabling easy access to health information for patients, doctors, and lab technicians while eliminating the need for carrying physical medical reports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217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IN" dirty="0"/>
          </a:p>
        </p:txBody>
      </p:sp>
      <p:sp>
        <p:nvSpPr>
          <p:cNvPr id="5" name="Rectangle 3"/>
          <p:cNvSpPr>
            <a:spLocks noGrp="1" noChangeArrowheads="1"/>
          </p:cNvSpPr>
          <p:nvPr>
            <p:ph idx="1"/>
          </p:nvPr>
        </p:nvSpPr>
        <p:spPr bwMode="auto">
          <a:xfrm>
            <a:off x="1484312" y="2644052"/>
            <a:ext cx="943697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Digital Health Card System</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that allows patients to access medical records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eliminate the need for carrying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physical medical reports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implement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authentication and OTP verification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secure patient registration and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generate a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unique Health Card ID (HC +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Number)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each patient.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provide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role-based access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Admin, Patient, Doctor, Lab </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Technician.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ensure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admin verification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doctors and lab technicians before system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allow doctors and lab technicians to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upload and manage medical reports digitally</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provide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patient consent-based access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doctors for viewing medical records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63236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Scope of the Project</a:t>
            </a:r>
          </a:p>
        </p:txBody>
      </p:sp>
      <p:sp>
        <p:nvSpPr>
          <p:cNvPr id="3" name="Content Placeholder 2"/>
          <p:cNvSpPr>
            <a:spLocks noGrp="1"/>
          </p:cNvSpPr>
          <p:nvPr>
            <p:ph idx="1"/>
          </p:nvPr>
        </p:nvSpPr>
        <p:spPr>
          <a:xfrm>
            <a:off x="1484311" y="3040486"/>
            <a:ext cx="10018713" cy="3124201"/>
          </a:xfrm>
        </p:spPr>
        <p:txBody>
          <a:bodyPr>
            <a:noAutofit/>
          </a:bodyPr>
          <a:lstStyle/>
          <a:p>
            <a:r>
              <a:rPr lang="en-US" sz="2000" dirty="0">
                <a:latin typeface="Times New Roman" panose="02020603050405020304" pitchFamily="18" charset="0"/>
                <a:cs typeface="Times New Roman" panose="02020603050405020304" pitchFamily="18" charset="0"/>
              </a:rPr>
              <a:t>The scope of the Digital Health Card System includes:</a:t>
            </a:r>
          </a:p>
          <a:p>
            <a:r>
              <a:rPr lang="en-US" sz="2000" dirty="0">
                <a:latin typeface="Times New Roman" panose="02020603050405020304" pitchFamily="18" charset="0"/>
                <a:cs typeface="Times New Roman" panose="02020603050405020304" pitchFamily="18" charset="0"/>
              </a:rPr>
              <a:t>Secure storage and management of patient health records.</a:t>
            </a:r>
          </a:p>
          <a:p>
            <a:r>
              <a:rPr lang="en-US" sz="2000" dirty="0" err="1">
                <a:latin typeface="Times New Roman" panose="02020603050405020304" pitchFamily="18" charset="0"/>
                <a:cs typeface="Times New Roman" panose="02020603050405020304" pitchFamily="18" charset="0"/>
              </a:rPr>
              <a:t>Aadhaar</a:t>
            </a:r>
            <a:r>
              <a:rPr lang="en-US" sz="2000" dirty="0">
                <a:latin typeface="Times New Roman" panose="02020603050405020304" pitchFamily="18" charset="0"/>
                <a:cs typeface="Times New Roman" panose="02020603050405020304" pitchFamily="18" charset="0"/>
              </a:rPr>
              <a:t>-based patient identity verification.</a:t>
            </a:r>
          </a:p>
          <a:p>
            <a:r>
              <a:rPr lang="en-US" sz="2000" dirty="0">
                <a:latin typeface="Times New Roman" panose="02020603050405020304" pitchFamily="18" charset="0"/>
                <a:cs typeface="Times New Roman" panose="02020603050405020304" pitchFamily="18" charset="0"/>
              </a:rPr>
              <a:t>Digital access to prescriptions, lab reports, and medical history.</a:t>
            </a:r>
          </a:p>
          <a:p>
            <a:r>
              <a:rPr lang="en-US" sz="2000" dirty="0">
                <a:latin typeface="Times New Roman" panose="02020603050405020304" pitchFamily="18" charset="0"/>
                <a:cs typeface="Times New Roman" panose="02020603050405020304" pitchFamily="18" charset="0"/>
              </a:rPr>
              <a:t>Admin-controlled verification of healthcare professionals.</a:t>
            </a:r>
          </a:p>
          <a:p>
            <a:r>
              <a:rPr lang="en-US" sz="2000" dirty="0">
                <a:latin typeface="Times New Roman" panose="02020603050405020304" pitchFamily="18" charset="0"/>
                <a:cs typeface="Times New Roman" panose="02020603050405020304" pitchFamily="18" charset="0"/>
              </a:rPr>
              <a:t>Consent-based and emergency access mechanisms.</a:t>
            </a:r>
          </a:p>
          <a:p>
            <a:r>
              <a:rPr lang="en-US" sz="2000" dirty="0">
                <a:latin typeface="Times New Roman" panose="02020603050405020304" pitchFamily="18" charset="0"/>
                <a:cs typeface="Times New Roman" panose="02020603050405020304" pitchFamily="18" charset="0"/>
              </a:rPr>
              <a:t>The system is designed for </a:t>
            </a:r>
            <a:r>
              <a:rPr lang="en-US" sz="2000" b="1" dirty="0">
                <a:latin typeface="Times New Roman" panose="02020603050405020304" pitchFamily="18" charset="0"/>
                <a:cs typeface="Times New Roman" panose="02020603050405020304" pitchFamily="18" charset="0"/>
              </a:rPr>
              <a:t>hospitals, clinics, diagnostic labs, and patients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The project focuses on </a:t>
            </a:r>
            <a:r>
              <a:rPr lang="en-US" sz="2000" b="1" dirty="0">
                <a:latin typeface="Times New Roman" panose="02020603050405020304" pitchFamily="18" charset="0"/>
                <a:cs typeface="Times New Roman" panose="02020603050405020304" pitchFamily="18" charset="0"/>
              </a:rPr>
              <a:t>digital record management</a:t>
            </a:r>
            <a:r>
              <a:rPr lang="en-US" sz="2000" dirty="0">
                <a:latin typeface="Times New Roman" panose="02020603050405020304" pitchFamily="18" charset="0"/>
                <a:cs typeface="Times New Roman" panose="02020603050405020304" pitchFamily="18" charset="0"/>
              </a:rPr>
              <a:t> and does not replace medical diagnosis or treatment processes.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21425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Limitations</a:t>
            </a:r>
          </a:p>
        </p:txBody>
      </p:sp>
      <p:sp>
        <p:nvSpPr>
          <p:cNvPr id="5" name="Rectangle 2"/>
          <p:cNvSpPr>
            <a:spLocks noGrp="1" noChangeArrowheads="1"/>
          </p:cNvSpPr>
          <p:nvPr>
            <p:ph idx="1"/>
          </p:nvPr>
        </p:nvSpPr>
        <p:spPr bwMode="auto">
          <a:xfrm>
            <a:off x="1484311" y="3001525"/>
            <a:ext cx="767729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Requires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card and linked mobile number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Needs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continuous internet connection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work properly.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Uses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hardcoded admin credentials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which limits scalability</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offline access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medical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with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low technical knowledge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may find it difficult to use</a:t>
            </a:r>
          </a:p>
        </p:txBody>
      </p:sp>
    </p:spTree>
    <p:extLst>
      <p:ext uri="{BB962C8B-B14F-4D97-AF65-F5344CB8AC3E}">
        <p14:creationId xmlns:p14="http://schemas.microsoft.com/office/powerpoint/2010/main" val="14079356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3501" y="2342813"/>
            <a:ext cx="3401893" cy="1323439"/>
          </a:xfrm>
          <a:prstGeom prst="rect">
            <a:avLst/>
          </a:prstGeom>
        </p:spPr>
        <p:txBody>
          <a:bodyPr wrap="none">
            <a:spAutoFit/>
          </a:bodyPr>
          <a:lstStyle/>
          <a:p>
            <a:r>
              <a:rPr lang="en-IN" sz="8000" dirty="0"/>
              <a:t>Module</a:t>
            </a:r>
          </a:p>
        </p:txBody>
      </p:sp>
    </p:spTree>
    <p:extLst>
      <p:ext uri="{BB962C8B-B14F-4D97-AF65-F5344CB8AC3E}">
        <p14:creationId xmlns:p14="http://schemas.microsoft.com/office/powerpoint/2010/main" val="38859673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4660" y="1119113"/>
            <a:ext cx="6096000" cy="3170099"/>
          </a:xfrm>
          <a:prstGeom prst="rect">
            <a:avLst/>
          </a:prstGeom>
        </p:spPr>
        <p:txBody>
          <a:bodyPr>
            <a:spAutoFit/>
          </a:bodyPr>
          <a:lstStyle/>
          <a:p>
            <a:r>
              <a:rPr lang="en-US" sz="4000" b="1" dirty="0"/>
              <a:t>Admin </a:t>
            </a:r>
            <a:r>
              <a:rPr lang="en-US" sz="4000" b="1" dirty="0" smtClean="0"/>
              <a:t>Module</a:t>
            </a:r>
          </a:p>
          <a:p>
            <a:endParaRPr lang="en-US" sz="4000" b="1" dirty="0"/>
          </a:p>
          <a:p>
            <a:endParaRPr lang="en-US" sz="4000" b="1" dirty="0"/>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 login using hardcoded credentials.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Verification and approval of doctor registrations.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Verification and approval of lab technician registrations.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Management of emergency access permissions.</a:t>
            </a:r>
          </a:p>
        </p:txBody>
      </p:sp>
      <p:pic>
        <p:nvPicPr>
          <p:cNvPr id="3" name="Picture 2"/>
          <p:cNvPicPr>
            <a:picLocks noChangeAspect="1"/>
          </p:cNvPicPr>
          <p:nvPr/>
        </p:nvPicPr>
        <p:blipFill>
          <a:blip r:embed="rId2"/>
          <a:stretch>
            <a:fillRect/>
          </a:stretch>
        </p:blipFill>
        <p:spPr>
          <a:xfrm>
            <a:off x="8190942" y="1"/>
            <a:ext cx="4001058" cy="6857999"/>
          </a:xfrm>
          <a:prstGeom prst="rect">
            <a:avLst/>
          </a:prstGeom>
        </p:spPr>
      </p:pic>
    </p:spTree>
    <p:extLst>
      <p:ext uri="{BB962C8B-B14F-4D97-AF65-F5344CB8AC3E}">
        <p14:creationId xmlns:p14="http://schemas.microsoft.com/office/powerpoint/2010/main" val="3502985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4812" y="1315258"/>
            <a:ext cx="6096000" cy="2923877"/>
          </a:xfrm>
          <a:prstGeom prst="rect">
            <a:avLst/>
          </a:prstGeom>
        </p:spPr>
        <p:txBody>
          <a:bodyPr>
            <a:spAutoFit/>
          </a:bodyPr>
          <a:lstStyle/>
          <a:p>
            <a:r>
              <a:rPr lang="en-IN" sz="4000" b="1" dirty="0"/>
              <a:t>Patient</a:t>
            </a:r>
            <a:r>
              <a:rPr lang="en-US" sz="4000" b="1" dirty="0" smtClean="0"/>
              <a:t> </a:t>
            </a:r>
            <a:r>
              <a:rPr lang="en-US" sz="4000" b="1" dirty="0"/>
              <a:t>Module</a:t>
            </a:r>
          </a:p>
          <a:p>
            <a:endParaRPr lang="en-US" sz="3600" b="1" dirty="0" smtClean="0"/>
          </a:p>
          <a:p>
            <a:endParaRPr lang="en-US" sz="3600" b="1" dirty="0"/>
          </a:p>
          <a:p>
            <a:r>
              <a:rPr lang="en-US" sz="3600" b="1" dirty="0" smtClean="0"/>
              <a:t>  </a:t>
            </a:r>
          </a:p>
          <a:p>
            <a:endParaRPr lang="en-US" sz="3600" b="1" dirty="0"/>
          </a:p>
        </p:txBody>
      </p:sp>
      <p:sp>
        <p:nvSpPr>
          <p:cNvPr id="5" name="Rectangle 3"/>
          <p:cNvSpPr>
            <a:spLocks noChangeArrowheads="1"/>
          </p:cNvSpPr>
          <p:nvPr/>
        </p:nvSpPr>
        <p:spPr bwMode="auto">
          <a:xfrm>
            <a:off x="2004812" y="2547095"/>
            <a:ext cx="611763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Registration using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OTP-based login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Automatic fetching of patient details using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Generation of Health Card ID (HC +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Number).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Viewing personal details and nominee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Viewing uploaded medical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Approval or rejection of doctor access requests.</a:t>
            </a:r>
          </a:p>
        </p:txBody>
      </p:sp>
      <p:pic>
        <p:nvPicPr>
          <p:cNvPr id="6" name="Picture 5"/>
          <p:cNvPicPr>
            <a:picLocks noChangeAspect="1"/>
          </p:cNvPicPr>
          <p:nvPr/>
        </p:nvPicPr>
        <p:blipFill>
          <a:blip r:embed="rId2"/>
          <a:stretch>
            <a:fillRect/>
          </a:stretch>
        </p:blipFill>
        <p:spPr>
          <a:xfrm>
            <a:off x="8209994" y="0"/>
            <a:ext cx="3982006" cy="6858000"/>
          </a:xfrm>
          <a:prstGeom prst="rect">
            <a:avLst/>
          </a:prstGeom>
        </p:spPr>
      </p:pic>
    </p:spTree>
    <p:extLst>
      <p:ext uri="{BB962C8B-B14F-4D97-AF65-F5344CB8AC3E}">
        <p14:creationId xmlns:p14="http://schemas.microsoft.com/office/powerpoint/2010/main" val="14657987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1780" y="954651"/>
            <a:ext cx="8761927" cy="3785652"/>
          </a:xfrm>
          <a:prstGeom prst="rect">
            <a:avLst/>
          </a:prstGeom>
        </p:spPr>
        <p:txBody>
          <a:bodyPr wrap="square">
            <a:spAutoFit/>
          </a:bodyPr>
          <a:lstStyle/>
          <a:p>
            <a:r>
              <a:rPr lang="en-US" sz="4000" b="1" dirty="0"/>
              <a:t>Doctor </a:t>
            </a:r>
            <a:r>
              <a:rPr lang="en-US" sz="4000" b="1" dirty="0" smtClean="0"/>
              <a:t>Module</a:t>
            </a:r>
          </a:p>
          <a:p>
            <a:endParaRPr lang="en-US" sz="4000" b="1" dirty="0"/>
          </a:p>
          <a:p>
            <a:endParaRPr lang="en-US" sz="4000" b="1" dirty="0"/>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Doctor registration and profile submission.</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after admin verification.</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patient using Health Card ID.</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Request patient consent to access medical records.</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View and edit patient medical information.</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Upload prescriptions and medical reports</a:t>
            </a:r>
            <a:r>
              <a:rPr lang="en-US" sz="2000" dirty="0"/>
              <a:t>.</a:t>
            </a:r>
          </a:p>
        </p:txBody>
      </p:sp>
      <p:pic>
        <p:nvPicPr>
          <p:cNvPr id="4" name="Picture 3"/>
          <p:cNvPicPr>
            <a:picLocks noChangeAspect="1"/>
          </p:cNvPicPr>
          <p:nvPr/>
        </p:nvPicPr>
        <p:blipFill>
          <a:blip r:embed="rId2"/>
          <a:stretch>
            <a:fillRect/>
          </a:stretch>
        </p:blipFill>
        <p:spPr>
          <a:xfrm>
            <a:off x="8190942" y="0"/>
            <a:ext cx="4001058" cy="6858000"/>
          </a:xfrm>
          <a:prstGeom prst="rect">
            <a:avLst/>
          </a:prstGeom>
        </p:spPr>
      </p:pic>
    </p:spTree>
    <p:extLst>
      <p:ext uri="{BB962C8B-B14F-4D97-AF65-F5344CB8AC3E}">
        <p14:creationId xmlns:p14="http://schemas.microsoft.com/office/powerpoint/2010/main" val="24230252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76022" y="1183508"/>
            <a:ext cx="6096000" cy="3170099"/>
          </a:xfrm>
          <a:prstGeom prst="rect">
            <a:avLst/>
          </a:prstGeom>
        </p:spPr>
        <p:txBody>
          <a:bodyPr>
            <a:spAutoFit/>
          </a:bodyPr>
          <a:lstStyle/>
          <a:p>
            <a:r>
              <a:rPr lang="en-US" sz="4000" b="1" dirty="0"/>
              <a:t>Lab Technician </a:t>
            </a:r>
            <a:r>
              <a:rPr lang="en-US" sz="4000" b="1" dirty="0" smtClean="0"/>
              <a:t>Module</a:t>
            </a:r>
          </a:p>
          <a:p>
            <a:endParaRPr lang="en-US" sz="4000" b="1" dirty="0"/>
          </a:p>
          <a:p>
            <a:endParaRPr lang="en-US" sz="4000" b="1" dirty="0"/>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 technician registration.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after admin verification.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patient using Health Card ID.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Upload diagnostic and laboratory reports.</a:t>
            </a:r>
          </a:p>
        </p:txBody>
      </p:sp>
      <p:pic>
        <p:nvPicPr>
          <p:cNvPr id="4" name="Picture 3"/>
          <p:cNvPicPr>
            <a:picLocks noChangeAspect="1"/>
          </p:cNvPicPr>
          <p:nvPr/>
        </p:nvPicPr>
        <p:blipFill>
          <a:blip r:embed="rId2"/>
          <a:stretch>
            <a:fillRect/>
          </a:stretch>
        </p:blipFill>
        <p:spPr>
          <a:xfrm>
            <a:off x="8200468" y="0"/>
            <a:ext cx="3991532" cy="6857999"/>
          </a:xfrm>
          <a:prstGeom prst="rect">
            <a:avLst/>
          </a:prstGeom>
        </p:spPr>
      </p:pic>
    </p:spTree>
    <p:extLst>
      <p:ext uri="{BB962C8B-B14F-4D97-AF65-F5344CB8AC3E}">
        <p14:creationId xmlns:p14="http://schemas.microsoft.com/office/powerpoint/2010/main" val="27631015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04415" y="423860"/>
            <a:ext cx="4447051" cy="707886"/>
          </a:xfrm>
          <a:prstGeom prst="rect">
            <a:avLst/>
          </a:prstGeom>
        </p:spPr>
        <p:txBody>
          <a:bodyPr wrap="none">
            <a:spAutoFit/>
          </a:bodyPr>
          <a:lstStyle/>
          <a:p>
            <a:r>
              <a:rPr lang="en-US" sz="4000" b="1" dirty="0" smtClean="0"/>
              <a:t>Data Flow Diagram</a:t>
            </a:r>
            <a:endParaRPr lang="en-IN" sz="4000" b="1" dirty="0"/>
          </a:p>
        </p:txBody>
      </p:sp>
      <p:pic>
        <p:nvPicPr>
          <p:cNvPr id="1026" name="Picture 2" descr="DFD2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3645" y="1532586"/>
            <a:ext cx="10019763" cy="4971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32792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7635" y="333709"/>
            <a:ext cx="5522281" cy="707886"/>
          </a:xfrm>
          <a:prstGeom prst="rect">
            <a:avLst/>
          </a:prstGeom>
        </p:spPr>
        <p:txBody>
          <a:bodyPr wrap="none">
            <a:spAutoFit/>
          </a:bodyPr>
          <a:lstStyle/>
          <a:p>
            <a:r>
              <a:rPr lang="en-US" sz="4000" b="1" dirty="0" smtClean="0"/>
              <a:t>Entity Relation Diagram</a:t>
            </a:r>
            <a:endParaRPr lang="en-IN" sz="4000" b="1" dirty="0"/>
          </a:p>
        </p:txBody>
      </p:sp>
      <p:pic>
        <p:nvPicPr>
          <p:cNvPr id="2051" name="Picture 3" descr="ER2drawio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223" y="1041595"/>
            <a:ext cx="10393250" cy="564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42036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7635" y="333709"/>
            <a:ext cx="4170501" cy="707886"/>
          </a:xfrm>
          <a:prstGeom prst="rect">
            <a:avLst/>
          </a:prstGeom>
        </p:spPr>
        <p:txBody>
          <a:bodyPr wrap="none">
            <a:spAutoFit/>
          </a:bodyPr>
          <a:lstStyle/>
          <a:p>
            <a:r>
              <a:rPr lang="en-US" sz="4000" b="1" dirty="0" smtClean="0"/>
              <a:t>Use Case Diagram</a:t>
            </a:r>
            <a:endParaRPr lang="en-IN" sz="4000" b="1" dirty="0"/>
          </a:p>
        </p:txBody>
      </p:sp>
      <p:pic>
        <p:nvPicPr>
          <p:cNvPr id="307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130" y="1041595"/>
            <a:ext cx="9878096" cy="569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75191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6484" y="282193"/>
            <a:ext cx="3329758" cy="707886"/>
          </a:xfrm>
          <a:prstGeom prst="rect">
            <a:avLst/>
          </a:prstGeom>
        </p:spPr>
        <p:txBody>
          <a:bodyPr wrap="none">
            <a:spAutoFit/>
          </a:bodyPr>
          <a:lstStyle/>
          <a:p>
            <a:r>
              <a:rPr lang="en-US" sz="4000" b="1" dirty="0" smtClean="0"/>
              <a:t>Class Diagram</a:t>
            </a:r>
            <a:endParaRPr lang="en-IN" sz="4000" b="1" dirty="0"/>
          </a:p>
        </p:txBody>
      </p:sp>
      <p:pic>
        <p:nvPicPr>
          <p:cNvPr id="4098" name="Picture 2" descr="class2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676" y="1152525"/>
            <a:ext cx="10174310"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79328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4580" y="359467"/>
            <a:ext cx="4357283" cy="707886"/>
          </a:xfrm>
          <a:prstGeom prst="rect">
            <a:avLst/>
          </a:prstGeom>
        </p:spPr>
        <p:txBody>
          <a:bodyPr wrap="none">
            <a:spAutoFit/>
          </a:bodyPr>
          <a:lstStyle/>
          <a:p>
            <a:r>
              <a:rPr lang="en-US" sz="4000" b="1" dirty="0" smtClean="0"/>
              <a:t>Sequence Diagram</a:t>
            </a:r>
            <a:endParaRPr lang="en-IN" sz="4000" b="1" dirty="0"/>
          </a:p>
        </p:txBody>
      </p:sp>
      <p:pic>
        <p:nvPicPr>
          <p:cNvPr id="512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946" y="1504950"/>
            <a:ext cx="10676586"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3178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1661375"/>
            <a:ext cx="7250806" cy="4247317"/>
          </a:xfrm>
          <a:prstGeom prst="rect">
            <a:avLst/>
          </a:prstGeom>
          <a:noFill/>
        </p:spPr>
        <p:txBody>
          <a:bodyPr wrap="square" rtlCol="0">
            <a:spAutoFit/>
          </a:bodyPr>
          <a:lstStyle/>
          <a:p>
            <a:pPr marL="342900" indent="-342900">
              <a:buFont typeface="Wingdings" pitchFamily="2" charset="2"/>
              <a:buChar char="q"/>
            </a:pPr>
            <a:r>
              <a:rPr lang="en-IN" b="1" dirty="0"/>
              <a:t>Hardware Requirements</a:t>
            </a:r>
          </a:p>
          <a:p>
            <a:r>
              <a:rPr lang="en-IN" dirty="0"/>
              <a:t>          Processor: Intel i3 or above</a:t>
            </a:r>
          </a:p>
          <a:p>
            <a:r>
              <a:rPr lang="en-IN" dirty="0"/>
              <a:t>          RAM: Minimum 4 GB</a:t>
            </a:r>
          </a:p>
          <a:p>
            <a:r>
              <a:rPr lang="en-IN" dirty="0"/>
              <a:t>          Storage: 100GB HDD or SSD</a:t>
            </a:r>
          </a:p>
          <a:p>
            <a:endParaRPr lang="en-IN" dirty="0"/>
          </a:p>
          <a:p>
            <a:pPr marL="342900" indent="-342900">
              <a:buFont typeface="Wingdings" pitchFamily="2" charset="2"/>
              <a:buChar char="q"/>
            </a:pPr>
            <a:r>
              <a:rPr lang="en-IN" b="1" dirty="0"/>
              <a:t>Software Requirements</a:t>
            </a:r>
          </a:p>
          <a:p>
            <a:r>
              <a:rPr lang="en-IN" b="1" dirty="0"/>
              <a:t>          </a:t>
            </a:r>
            <a:r>
              <a:rPr lang="en-IN" dirty="0"/>
              <a:t>Operating System: </a:t>
            </a:r>
            <a:r>
              <a:rPr lang="en-IN" dirty="0" smtClean="0"/>
              <a:t>Any Operating System(Windows ,</a:t>
            </a:r>
            <a:r>
              <a:rPr lang="en-IN" dirty="0" err="1" smtClean="0"/>
              <a:t>Linux,MacOs</a:t>
            </a:r>
            <a:r>
              <a:rPr lang="en-IN" dirty="0" smtClean="0"/>
              <a:t>)</a:t>
            </a:r>
            <a:endParaRPr lang="en-IN" dirty="0"/>
          </a:p>
          <a:p>
            <a:r>
              <a:rPr lang="en-IN" sz="1600" dirty="0"/>
              <a:t>             </a:t>
            </a:r>
            <a:r>
              <a:rPr lang="en-IN" dirty="0"/>
              <a:t>Frontend: HTML, </a:t>
            </a:r>
            <a:r>
              <a:rPr lang="en-IN" dirty="0" smtClean="0"/>
              <a:t>CSS(</a:t>
            </a:r>
            <a:r>
              <a:rPr lang="en-IN" dirty="0" err="1" smtClean="0"/>
              <a:t>TalwindCSS</a:t>
            </a:r>
            <a:r>
              <a:rPr lang="en-IN" dirty="0" smtClean="0"/>
              <a:t>), </a:t>
            </a:r>
            <a:r>
              <a:rPr lang="en-IN" dirty="0" err="1"/>
              <a:t>Javascript</a:t>
            </a:r>
            <a:r>
              <a:rPr lang="en-IN" dirty="0"/>
              <a:t>,  React.js</a:t>
            </a:r>
          </a:p>
          <a:p>
            <a:r>
              <a:rPr lang="en-IN" dirty="0"/>
              <a:t>           Backend: ASP.NET </a:t>
            </a:r>
            <a:r>
              <a:rPr lang="en-IN" dirty="0" smtClean="0"/>
              <a:t>Core 8.0 Web App</a:t>
            </a:r>
            <a:endParaRPr lang="en-IN" dirty="0"/>
          </a:p>
          <a:p>
            <a:r>
              <a:rPr lang="en-IN" dirty="0"/>
              <a:t>           Database: </a:t>
            </a:r>
            <a:r>
              <a:rPr lang="en-IN" dirty="0" smtClean="0"/>
              <a:t>MYSQL</a:t>
            </a:r>
          </a:p>
          <a:p>
            <a:r>
              <a:rPr lang="en-US" dirty="0" smtClean="0"/>
              <a:t>           Browser :Google Chrome / Mozilla </a:t>
            </a:r>
            <a:r>
              <a:rPr lang="en-US" dirty="0" err="1" smtClean="0"/>
              <a:t>FireFox</a:t>
            </a:r>
            <a:r>
              <a:rPr lang="en-US" dirty="0" smtClean="0"/>
              <a:t> / Microsoft Edge</a:t>
            </a:r>
            <a:endParaRPr lang="en-IN" dirty="0"/>
          </a:p>
          <a:p>
            <a:r>
              <a:rPr lang="en-IN" dirty="0"/>
              <a:t>           Server: </a:t>
            </a:r>
            <a:r>
              <a:rPr lang="en-IN" dirty="0" smtClean="0"/>
              <a:t>http</a:t>
            </a:r>
            <a:endParaRPr lang="en-IN" dirty="0"/>
          </a:p>
          <a:p>
            <a:r>
              <a:rPr lang="en-IN" dirty="0"/>
              <a:t>           IDE: Visual Studio, VS </a:t>
            </a:r>
            <a:r>
              <a:rPr lang="en-IN" dirty="0" smtClean="0"/>
              <a:t>Code</a:t>
            </a:r>
          </a:p>
          <a:p>
            <a:endParaRPr lang="en-IN" dirty="0"/>
          </a:p>
          <a:p>
            <a:endParaRPr lang="en-IN" dirty="0"/>
          </a:p>
        </p:txBody>
      </p:sp>
      <p:sp>
        <p:nvSpPr>
          <p:cNvPr id="3" name="Rectangle 2"/>
          <p:cNvSpPr/>
          <p:nvPr/>
        </p:nvSpPr>
        <p:spPr>
          <a:xfrm>
            <a:off x="1590057" y="436739"/>
            <a:ext cx="8290668" cy="707886"/>
          </a:xfrm>
          <a:prstGeom prst="rect">
            <a:avLst/>
          </a:prstGeom>
        </p:spPr>
        <p:txBody>
          <a:bodyPr wrap="none">
            <a:spAutoFit/>
          </a:bodyPr>
          <a:lstStyle/>
          <a:p>
            <a:pPr algn="ctr"/>
            <a:r>
              <a:rPr lang="en-IN" sz="4000" b="1" dirty="0"/>
              <a:t>Software</a:t>
            </a:r>
            <a:r>
              <a:rPr lang="en-IN" dirty="0"/>
              <a:t> </a:t>
            </a:r>
            <a:r>
              <a:rPr lang="en-IN" sz="4000" b="1" dirty="0"/>
              <a:t>Requirements</a:t>
            </a:r>
            <a:r>
              <a:rPr lang="en-IN" dirty="0"/>
              <a:t> </a:t>
            </a:r>
            <a:r>
              <a:rPr lang="en-IN" sz="4000" b="1" dirty="0"/>
              <a:t>Specification</a:t>
            </a:r>
          </a:p>
        </p:txBody>
      </p:sp>
    </p:spTree>
    <p:extLst>
      <p:ext uri="{BB962C8B-B14F-4D97-AF65-F5344CB8AC3E}">
        <p14:creationId xmlns:p14="http://schemas.microsoft.com/office/powerpoint/2010/main" val="24971681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IN" dirty="0"/>
          </a:p>
        </p:txBody>
      </p:sp>
      <p:sp>
        <p:nvSpPr>
          <p:cNvPr id="3" name="Content Placeholder 2"/>
          <p:cNvSpPr>
            <a:spLocks noGrp="1"/>
          </p:cNvSpPr>
          <p:nvPr>
            <p:ph idx="1"/>
          </p:nvPr>
        </p:nvSpPr>
        <p:spPr/>
        <p:txBody>
          <a:bodyPr>
            <a:no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Digital Health Card System</a:t>
            </a:r>
            <a:r>
              <a:rPr lang="en-US" sz="2000" dirty="0">
                <a:latin typeface="Times New Roman" panose="02020603050405020304" pitchFamily="18" charset="0"/>
                <a:cs typeface="Times New Roman" panose="02020603050405020304" pitchFamily="18" charset="0"/>
              </a:rPr>
              <a:t> successfully provides a secure and efficient platform for managing patient medical records digitally. By eliminating the need for physical reports and introducing </a:t>
            </a:r>
            <a:r>
              <a:rPr lang="en-US" sz="2000" dirty="0" err="1">
                <a:latin typeface="Times New Roman" panose="02020603050405020304" pitchFamily="18" charset="0"/>
                <a:cs typeface="Times New Roman" panose="02020603050405020304" pitchFamily="18" charset="0"/>
              </a:rPr>
              <a:t>Aadhaar</a:t>
            </a:r>
            <a:r>
              <a:rPr lang="en-US" sz="2000" dirty="0">
                <a:latin typeface="Times New Roman" panose="02020603050405020304" pitchFamily="18" charset="0"/>
                <a:cs typeface="Times New Roman" panose="02020603050405020304" pitchFamily="18" charset="0"/>
              </a:rPr>
              <a:t>-based authentication, the system ensures easy access and improved reliability of medical data. Role-based access control and admin verification enhance system security, while digital report uploads by doctors and lab technicians ensure accurate and up-to-date medical information. The emergency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feature further strengthens the system by enabling timely treatment during critical situations. Overall, the system contributes to a more organized, accessible, and patient-centric healthcare management approach and has the potential for future expansion with advanced technologies and real-world integrations.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8180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IN" dirty="0"/>
          </a:p>
        </p:txBody>
      </p:sp>
      <p:sp>
        <p:nvSpPr>
          <p:cNvPr id="5" name="Rectangle 2"/>
          <p:cNvSpPr>
            <a:spLocks noGrp="1" noChangeArrowheads="1"/>
          </p:cNvSpPr>
          <p:nvPr>
            <p:ph idx="1"/>
          </p:nvPr>
        </p:nvSpPr>
        <p:spPr bwMode="auto">
          <a:xfrm>
            <a:off x="1484310" y="2951827"/>
            <a:ext cx="637514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with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APIs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t>
            </a:r>
            <a:r>
              <a:rPr kumimoji="0" lang="en-US" sz="20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live verification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Mobile application version of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Biometric authentication for enhanced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AI-based health analysis and report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with hospitals and pharmacies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Blockchain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storage for tamper-proof medical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Appointment scheduling and notification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Multi-language support for wider accessibility</a:t>
            </a:r>
          </a:p>
        </p:txBody>
      </p:sp>
    </p:spTree>
    <p:extLst>
      <p:ext uri="{BB962C8B-B14F-4D97-AF65-F5344CB8AC3E}">
        <p14:creationId xmlns:p14="http://schemas.microsoft.com/office/powerpoint/2010/main" val="39808056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13119" y="2870846"/>
            <a:ext cx="2800447" cy="830997"/>
          </a:xfrm>
          <a:prstGeom prst="rect">
            <a:avLst/>
          </a:prstGeom>
        </p:spPr>
        <p:txBody>
          <a:bodyPr wrap="none">
            <a:spAutoFit/>
          </a:bodyPr>
          <a:lstStyle/>
          <a:p>
            <a:r>
              <a:rPr lang="en-IN" sz="4800" dirty="0">
                <a:solidFill>
                  <a:schemeClr val="tx2">
                    <a:lumMod val="75000"/>
                  </a:schemeClr>
                </a:solidFill>
              </a:rPr>
              <a:t>Thank You</a:t>
            </a:r>
          </a:p>
        </p:txBody>
      </p:sp>
    </p:spTree>
    <p:extLst>
      <p:ext uri="{BB962C8B-B14F-4D97-AF65-F5344CB8AC3E}">
        <p14:creationId xmlns:p14="http://schemas.microsoft.com/office/powerpoint/2010/main" val="6395492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574</TotalTime>
  <Words>1140</Words>
  <Application>Microsoft Office PowerPoint</Application>
  <PresentationFormat>Widescreen</PresentationFormat>
  <Paragraphs>109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Corbel</vt:lpstr>
      <vt:lpstr>Times New Roman</vt:lpstr>
      <vt:lpstr>Wingdings</vt:lpstr>
      <vt:lpstr>Parallax</vt:lpstr>
      <vt:lpstr>Digital Health Card</vt:lpstr>
      <vt:lpstr>PowerPoint Presentation</vt:lpstr>
      <vt:lpstr>Abstract</vt:lpstr>
      <vt:lpstr>Introduction</vt:lpstr>
      <vt:lpstr>Problem Statement</vt:lpstr>
      <vt:lpstr>Project Overview</vt:lpstr>
      <vt:lpstr>Aim</vt:lpstr>
      <vt:lpstr>Objective</vt:lpstr>
      <vt:lpstr>Scope of the Project</vt:lpstr>
      <vt:lpstr>Limitations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Health Card</dc:title>
  <dc:creator>DELL</dc:creator>
  <cp:lastModifiedBy>DELL</cp:lastModifiedBy>
  <cp:revision>30</cp:revision>
  <dcterms:created xsi:type="dcterms:W3CDTF">2026-01-29T12:33:17Z</dcterms:created>
  <dcterms:modified xsi:type="dcterms:W3CDTF">2026-02-01T10:44:10Z</dcterms:modified>
</cp:coreProperties>
</file>