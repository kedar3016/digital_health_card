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2" r:id="rId1"/>
  </p:sldMasterIdLst>
  <p:sldIdLst>
    <p:sldId id="256" r:id="rId2"/>
    <p:sldId id="284" r:id="rId3"/>
    <p:sldId id="263" r:id="rId4"/>
    <p:sldId id="262" r:id="rId5"/>
    <p:sldId id="257" r:id="rId6"/>
    <p:sldId id="264" r:id="rId7"/>
    <p:sldId id="258" r:id="rId8"/>
    <p:sldId id="259" r:id="rId9"/>
    <p:sldId id="260" r:id="rId10"/>
    <p:sldId id="261" r:id="rId11"/>
    <p:sldId id="276" r:id="rId12"/>
    <p:sldId id="277" r:id="rId13"/>
    <p:sldId id="272" r:id="rId14"/>
    <p:sldId id="273" r:id="rId15"/>
    <p:sldId id="274" r:id="rId16"/>
    <p:sldId id="279" r:id="rId17"/>
    <p:sldId id="280" r:id="rId18"/>
    <p:sldId id="281" r:id="rId19"/>
    <p:sldId id="282" r:id="rId20"/>
    <p:sldId id="283" r:id="rId21"/>
    <p:sldId id="271" r:id="rId22"/>
    <p:sldId id="269" r:id="rId23"/>
    <p:sldId id="270" r:id="rId24"/>
    <p:sldId id="278"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660"/>
  </p:normalViewPr>
  <p:slideViewPr>
    <p:cSldViewPr snapToGrid="0">
      <p:cViewPr varScale="1">
        <p:scale>
          <a:sx n="74" d="100"/>
          <a:sy n="74" d="100"/>
        </p:scale>
        <p:origin x="576"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9" name="Group 18"/>
          <p:cNvGrpSpPr/>
          <p:nvPr/>
        </p:nvGrpSpPr>
        <p:grpSpPr>
          <a:xfrm>
            <a:off x="546100" y="-4763"/>
            <a:ext cx="5014912" cy="6862763"/>
            <a:chOff x="2928938" y="-4763"/>
            <a:chExt cx="5014912" cy="6862763"/>
          </a:xfrm>
        </p:grpSpPr>
        <p:sp>
          <p:nvSpPr>
            <p:cNvPr id="22" name="Freeform 6"/>
            <p:cNvSpPr/>
            <p:nvPr/>
          </p:nvSpPr>
          <p:spPr bwMode="auto">
            <a:xfrm>
              <a:off x="3367088" y="-4763"/>
              <a:ext cx="1063625" cy="2782888"/>
            </a:xfrm>
            <a:custGeom>
              <a:avLst/>
              <a:gdLst/>
              <a:ahLst/>
              <a:cxnLst/>
              <a:rect l="0" t="0" r="r" b="b"/>
              <a:pathLst>
                <a:path w="670" h="1753">
                  <a:moveTo>
                    <a:pt x="0" y="1696"/>
                  </a:moveTo>
                  <a:lnTo>
                    <a:pt x="225" y="1753"/>
                  </a:lnTo>
                  <a:lnTo>
                    <a:pt x="670" y="0"/>
                  </a:lnTo>
                  <a:lnTo>
                    <a:pt x="430" y="0"/>
                  </a:lnTo>
                  <a:lnTo>
                    <a:pt x="0" y="1696"/>
                  </a:lnTo>
                  <a:close/>
                </a:path>
              </a:pathLst>
            </a:custGeom>
            <a:solidFill>
              <a:schemeClr val="accent1"/>
            </a:solidFill>
            <a:ln>
              <a:noFill/>
            </a:ln>
          </p:spPr>
        </p:sp>
        <p:sp>
          <p:nvSpPr>
            <p:cNvPr id="23" name="Freeform 7"/>
            <p:cNvSpPr/>
            <p:nvPr/>
          </p:nvSpPr>
          <p:spPr bwMode="auto">
            <a:xfrm>
              <a:off x="2928938" y="-4763"/>
              <a:ext cx="1035050" cy="2673350"/>
            </a:xfrm>
            <a:custGeom>
              <a:avLst/>
              <a:gdLst/>
              <a:ahLst/>
              <a:cxnLst/>
              <a:rect l="0" t="0" r="r" b="b"/>
              <a:pathLst>
                <a:path w="652" h="1684">
                  <a:moveTo>
                    <a:pt x="225" y="1684"/>
                  </a:moveTo>
                  <a:lnTo>
                    <a:pt x="652" y="0"/>
                  </a:lnTo>
                  <a:lnTo>
                    <a:pt x="411" y="0"/>
                  </a:lnTo>
                  <a:lnTo>
                    <a:pt x="0" y="1627"/>
                  </a:lnTo>
                  <a:lnTo>
                    <a:pt x="219" y="1681"/>
                  </a:lnTo>
                  <a:lnTo>
                    <a:pt x="225" y="1684"/>
                  </a:lnTo>
                  <a:close/>
                </a:path>
              </a:pathLst>
            </a:custGeom>
            <a:solidFill>
              <a:schemeClr val="tx1">
                <a:lumMod val="65000"/>
                <a:lumOff val="35000"/>
              </a:schemeClr>
            </a:solidFill>
            <a:ln>
              <a:noFill/>
            </a:ln>
          </p:spPr>
        </p:sp>
        <p:sp>
          <p:nvSpPr>
            <p:cNvPr id="24" name="Freeform 9"/>
            <p:cNvSpPr/>
            <p:nvPr/>
          </p:nvSpPr>
          <p:spPr bwMode="auto">
            <a:xfrm>
              <a:off x="2928938" y="2582862"/>
              <a:ext cx="2693987" cy="4275138"/>
            </a:xfrm>
            <a:custGeom>
              <a:avLst/>
              <a:gdLst/>
              <a:ahLst/>
              <a:cxnLst/>
              <a:rect l="0" t="0" r="r" b="b"/>
              <a:pathLst>
                <a:path w="1697" h="2693">
                  <a:moveTo>
                    <a:pt x="0" y="0"/>
                  </a:moveTo>
                  <a:lnTo>
                    <a:pt x="1622" y="2693"/>
                  </a:lnTo>
                  <a:lnTo>
                    <a:pt x="1697" y="2693"/>
                  </a:lnTo>
                  <a:lnTo>
                    <a:pt x="0" y="0"/>
                  </a:lnTo>
                  <a:close/>
                </a:path>
              </a:pathLst>
            </a:custGeom>
            <a:solidFill>
              <a:schemeClr val="tx1">
                <a:lumMod val="85000"/>
                <a:lumOff val="15000"/>
              </a:schemeClr>
            </a:solidFill>
            <a:ln>
              <a:noFill/>
            </a:ln>
          </p:spPr>
        </p:sp>
        <p:sp>
          <p:nvSpPr>
            <p:cNvPr id="25" name="Freeform 10"/>
            <p:cNvSpPr/>
            <p:nvPr/>
          </p:nvSpPr>
          <p:spPr bwMode="auto">
            <a:xfrm>
              <a:off x="3371850" y="2692400"/>
              <a:ext cx="3332162" cy="4165600"/>
            </a:xfrm>
            <a:custGeom>
              <a:avLst/>
              <a:gdLst/>
              <a:ahLst/>
              <a:cxnLst/>
              <a:rect l="0" t="0" r="r" b="b"/>
              <a:pathLst>
                <a:path w="2099" h="2624">
                  <a:moveTo>
                    <a:pt x="2099" y="2624"/>
                  </a:moveTo>
                  <a:lnTo>
                    <a:pt x="0" y="0"/>
                  </a:lnTo>
                  <a:lnTo>
                    <a:pt x="2021" y="2624"/>
                  </a:lnTo>
                  <a:lnTo>
                    <a:pt x="2099" y="2624"/>
                  </a:lnTo>
                  <a:close/>
                </a:path>
              </a:pathLst>
            </a:custGeom>
            <a:solidFill>
              <a:schemeClr val="accent1">
                <a:lumMod val="50000"/>
              </a:schemeClr>
            </a:solidFill>
            <a:ln>
              <a:noFill/>
            </a:ln>
          </p:spPr>
        </p:sp>
        <p:sp>
          <p:nvSpPr>
            <p:cNvPr id="26" name="Freeform 11"/>
            <p:cNvSpPr/>
            <p:nvPr/>
          </p:nvSpPr>
          <p:spPr bwMode="auto">
            <a:xfrm>
              <a:off x="3367088" y="2687637"/>
              <a:ext cx="4576762" cy="4170363"/>
            </a:xfrm>
            <a:custGeom>
              <a:avLst/>
              <a:gdLst/>
              <a:ahLst/>
              <a:cxnLst/>
              <a:rect l="0" t="0" r="r" b="b"/>
              <a:pathLst>
                <a:path w="2883" h="2627">
                  <a:moveTo>
                    <a:pt x="0" y="0"/>
                  </a:moveTo>
                  <a:lnTo>
                    <a:pt x="3" y="3"/>
                  </a:lnTo>
                  <a:lnTo>
                    <a:pt x="2102" y="2627"/>
                  </a:lnTo>
                  <a:lnTo>
                    <a:pt x="2883" y="2627"/>
                  </a:lnTo>
                  <a:lnTo>
                    <a:pt x="225" y="57"/>
                  </a:lnTo>
                  <a:lnTo>
                    <a:pt x="0" y="0"/>
                  </a:lnTo>
                  <a:close/>
                </a:path>
              </a:pathLst>
            </a:custGeom>
            <a:solidFill>
              <a:schemeClr val="accent1">
                <a:lumMod val="75000"/>
              </a:schemeClr>
            </a:solidFill>
            <a:ln>
              <a:noFill/>
            </a:ln>
          </p:spPr>
        </p:sp>
        <p:sp>
          <p:nvSpPr>
            <p:cNvPr id="27" name="Freeform 12"/>
            <p:cNvSpPr/>
            <p:nvPr/>
          </p:nvSpPr>
          <p:spPr bwMode="auto">
            <a:xfrm>
              <a:off x="2928938" y="2578100"/>
              <a:ext cx="3584575" cy="4279900"/>
            </a:xfrm>
            <a:custGeom>
              <a:avLst/>
              <a:gdLst/>
              <a:ahLst/>
              <a:cxnLst/>
              <a:rect l="0" t="0" r="r" b="b"/>
              <a:pathLst>
                <a:path w="2258" h="2696">
                  <a:moveTo>
                    <a:pt x="2258" y="2696"/>
                  </a:moveTo>
                  <a:lnTo>
                    <a:pt x="264" y="111"/>
                  </a:lnTo>
                  <a:lnTo>
                    <a:pt x="228" y="60"/>
                  </a:lnTo>
                  <a:lnTo>
                    <a:pt x="225" y="57"/>
                  </a:lnTo>
                  <a:lnTo>
                    <a:pt x="0" y="0"/>
                  </a:lnTo>
                  <a:lnTo>
                    <a:pt x="0" y="3"/>
                  </a:lnTo>
                  <a:lnTo>
                    <a:pt x="1697" y="2696"/>
                  </a:lnTo>
                  <a:lnTo>
                    <a:pt x="2258" y="2696"/>
                  </a:lnTo>
                  <a:close/>
                </a:path>
              </a:pathLst>
            </a:custGeom>
            <a:solidFill>
              <a:schemeClr val="tx1">
                <a:lumMod val="75000"/>
                <a:lumOff val="25000"/>
              </a:schemeClr>
            </a:solidFill>
            <a:ln>
              <a:noFill/>
            </a:ln>
          </p:spPr>
        </p:sp>
      </p:grpSp>
      <p:sp>
        <p:nvSpPr>
          <p:cNvPr id="2" name="Title 1"/>
          <p:cNvSpPr>
            <a:spLocks noGrp="1"/>
          </p:cNvSpPr>
          <p:nvPr>
            <p:ph type="ctrTitle"/>
          </p:nvPr>
        </p:nvSpPr>
        <p:spPr>
          <a:xfrm>
            <a:off x="2928401" y="1380068"/>
            <a:ext cx="8574622" cy="2616199"/>
          </a:xfrm>
        </p:spPr>
        <p:txBody>
          <a:bodyPr anchor="b">
            <a:normAutofit/>
          </a:bodyPr>
          <a:lstStyle>
            <a:lvl1pPr algn="r">
              <a:defRPr sz="6000">
                <a:effectLst/>
              </a:defRPr>
            </a:lvl1pPr>
          </a:lstStyle>
          <a:p>
            <a:r>
              <a:rPr lang="en-US" smtClean="0"/>
              <a:t>Click to edit Master title style</a:t>
            </a:r>
            <a:endParaRPr lang="en-US" dirty="0"/>
          </a:p>
        </p:txBody>
      </p:sp>
      <p:sp>
        <p:nvSpPr>
          <p:cNvPr id="3" name="Subtitle 2"/>
          <p:cNvSpPr>
            <a:spLocks noGrp="1"/>
          </p:cNvSpPr>
          <p:nvPr>
            <p:ph type="subTitle" idx="1"/>
          </p:nvPr>
        </p:nvSpPr>
        <p:spPr>
          <a:xfrm>
            <a:off x="4515377" y="3996267"/>
            <a:ext cx="6987645" cy="1388534"/>
          </a:xfrm>
        </p:spPr>
        <p:txBody>
          <a:bodyPr anchor="t">
            <a:normAutofit/>
          </a:bodyPr>
          <a:lstStyle>
            <a:lvl1pPr marL="0" indent="0" algn="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a:xfrm>
            <a:off x="5332412" y="5883275"/>
            <a:ext cx="4324044" cy="365125"/>
          </a:xfrm>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549420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nchor="ct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a:xfrm>
            <a:off x="10951856" y="5867131"/>
            <a:ext cx="551167" cy="365125"/>
          </a:xfrm>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0444720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72279" y="2666999"/>
            <a:ext cx="8930747" cy="2110382"/>
          </a:xfrm>
        </p:spPr>
        <p:txBody>
          <a:bodyPr anchor="b"/>
          <a:lstStyle>
            <a:lvl1pPr algn="r">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2572278" y="4777381"/>
            <a:ext cx="8930748"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2711342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84311" y="685800"/>
            <a:ext cx="10018713" cy="1752599"/>
          </a:xfrm>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1484312" y="2666999"/>
            <a:ext cx="4895055" cy="3124201"/>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6607967" y="2667000"/>
            <a:ext cx="4895056" cy="3124200"/>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120C8855-6882-4AD7-B13D-6553AEF0D6D0}" type="datetimeFigureOut">
              <a:rPr lang="en-IN" smtClean="0"/>
              <a:t>31-01-2026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16373854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dirty="0"/>
          </a:p>
        </p:txBody>
      </p:sp>
      <p:sp>
        <p:nvSpPr>
          <p:cNvPr id="3" name="Text Placeholder 2"/>
          <p:cNvSpPr>
            <a:spLocks noGrp="1"/>
          </p:cNvSpPr>
          <p:nvPr>
            <p:ph type="body" idx="1"/>
          </p:nvPr>
        </p:nvSpPr>
        <p:spPr>
          <a:xfrm>
            <a:off x="1772179" y="2658533"/>
            <a:ext cx="4607188"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1484311" y="3335337"/>
            <a:ext cx="4895056" cy="2455862"/>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6880487" y="2667000"/>
            <a:ext cx="4622537"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607967" y="3335337"/>
            <a:ext cx="4895056" cy="2455862"/>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120C8855-6882-4AD7-B13D-6553AEF0D6D0}" type="datetimeFigureOut">
              <a:rPr lang="en-IN" smtClean="0"/>
              <a:t>31-01-2026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12574671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120C8855-6882-4AD7-B13D-6553AEF0D6D0}" type="datetimeFigureOut">
              <a:rPr lang="en-IN" smtClean="0"/>
              <a:t>31-01-2026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8108918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20C8855-6882-4AD7-B13D-6553AEF0D6D0}" type="datetimeFigureOut">
              <a:rPr lang="en-IN" smtClean="0"/>
              <a:t>31-01-2026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188067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2" y="1600200"/>
            <a:ext cx="3549121" cy="1371600"/>
          </a:xfrm>
        </p:spPr>
        <p:txBody>
          <a:bodyPr anchor="b">
            <a:normAutofit/>
          </a:bodyPr>
          <a:lstStyle>
            <a:lvl1pPr algn="ctr">
              <a:defRPr sz="2400" b="0"/>
            </a:lvl1pPr>
          </a:lstStyle>
          <a:p>
            <a:r>
              <a:rPr lang="en-US" smtClean="0"/>
              <a:t>Click to edit Master title style</a:t>
            </a:r>
            <a:endParaRPr lang="en-US" dirty="0"/>
          </a:p>
        </p:txBody>
      </p:sp>
      <p:sp>
        <p:nvSpPr>
          <p:cNvPr id="3" name="Content Placeholder 2"/>
          <p:cNvSpPr>
            <a:spLocks noGrp="1"/>
          </p:cNvSpPr>
          <p:nvPr>
            <p:ph idx="1"/>
          </p:nvPr>
        </p:nvSpPr>
        <p:spPr>
          <a:xfrm>
            <a:off x="5262033" y="685799"/>
            <a:ext cx="6240990" cy="5105401"/>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1484312" y="2971800"/>
            <a:ext cx="3549121" cy="1828800"/>
          </a:xfrm>
        </p:spPr>
        <p:txBody>
          <a:bodyPr>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20C8855-6882-4AD7-B13D-6553AEF0D6D0}" type="datetimeFigureOut">
              <a:rPr lang="en-IN" smtClean="0"/>
              <a:t>31-01-2026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60295698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2724" y="1752599"/>
            <a:ext cx="5426158" cy="1371600"/>
          </a:xfrm>
        </p:spPr>
        <p:txBody>
          <a:bodyPr anchor="b">
            <a:normAutofit/>
          </a:bodyPr>
          <a:lstStyle>
            <a:lvl1pPr algn="ctr">
              <a:defRPr sz="2800" b="0"/>
            </a:lvl1pPr>
          </a:lstStyle>
          <a:p>
            <a:r>
              <a:rPr lang="en-US" smtClean="0"/>
              <a:t>Click to edit Master title style</a:t>
            </a:r>
            <a:endParaRPr lang="en-US" dirty="0"/>
          </a:p>
        </p:txBody>
      </p:sp>
      <p:sp>
        <p:nvSpPr>
          <p:cNvPr id="14" name="Picture Placeholder 2"/>
          <p:cNvSpPr>
            <a:spLocks noGrp="1" noChangeAspect="1"/>
          </p:cNvSpPr>
          <p:nvPr>
            <p:ph type="pic" idx="1"/>
          </p:nvPr>
        </p:nvSpPr>
        <p:spPr>
          <a:xfrm>
            <a:off x="7594682" y="914400"/>
            <a:ext cx="3280974" cy="4572000"/>
          </a:xfrm>
          <a:prstGeom prst="roundRect">
            <a:avLst>
              <a:gd name="adj" fmla="val 42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1482724" y="3124199"/>
            <a:ext cx="5426158" cy="1828800"/>
          </a:xfrm>
        </p:spPr>
        <p:txBody>
          <a:bodyPr>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20C8855-6882-4AD7-B13D-6553AEF0D6D0}" type="datetimeFigureOut">
              <a:rPr lang="en-IN" smtClean="0"/>
              <a:t>31-01-2026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2686747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1" y="4732865"/>
            <a:ext cx="10018711" cy="566738"/>
          </a:xfrm>
        </p:spPr>
        <p:txBody>
          <a:bodyPr anchor="b">
            <a:normAutofit/>
          </a:bodyPr>
          <a:lstStyle>
            <a:lvl1pPr algn="ctr">
              <a:defRPr sz="24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2386012" y="932112"/>
            <a:ext cx="8225944" cy="3164976"/>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1484311" y="5299603"/>
            <a:ext cx="10018711"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20C8855-6882-4AD7-B13D-6553AEF0D6D0}" type="datetimeFigureOut">
              <a:rPr lang="en-IN" smtClean="0"/>
              <a:t>31-01-2026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21011212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2" y="685800"/>
            <a:ext cx="10018711" cy="3048000"/>
          </a:xfrm>
        </p:spPr>
        <p:txBody>
          <a:bodyPr anchor="ctr">
            <a:normAutofit/>
          </a:bodyPr>
          <a:lstStyle>
            <a:lvl1pPr algn="ctr">
              <a:defRPr sz="32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1484312" y="4343400"/>
            <a:ext cx="10018713"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17513490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2436811" y="3428999"/>
            <a:ext cx="8532815" cy="381000"/>
          </a:xfrm>
        </p:spPr>
        <p:txBody>
          <a:bodyPr anchor="ctr">
            <a:normAutofit/>
          </a:bodyPr>
          <a:lstStyle>
            <a:lvl1pPr marL="0" indent="0">
              <a:buFontTx/>
              <a:buNone/>
              <a:defRPr sz="18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Text Placeholder 2"/>
          <p:cNvSpPr>
            <a:spLocks noGrp="1"/>
          </p:cNvSpPr>
          <p:nvPr>
            <p:ph type="body" idx="1"/>
          </p:nvPr>
        </p:nvSpPr>
        <p:spPr>
          <a:xfrm>
            <a:off x="1484311" y="4343400"/>
            <a:ext cx="10018711"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179583252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484313" y="3308581"/>
            <a:ext cx="10018709" cy="1468800"/>
          </a:xfrm>
        </p:spPr>
        <p:txBody>
          <a:bodyPr anchor="b">
            <a:normAutofit/>
          </a:bodyPr>
          <a:lstStyle>
            <a:lvl1pPr algn="r">
              <a:defRPr sz="32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1484312" y="4777381"/>
            <a:ext cx="10018710"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255522325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1484313" y="3886200"/>
            <a:ext cx="10018710" cy="889000"/>
          </a:xfrm>
        </p:spPr>
        <p:txBody>
          <a:bodyPr vert="horz" lIns="91440" tIns="45720" rIns="91440" bIns="45720" rtlCol="0" anchor="b">
            <a:normAutofit/>
          </a:bodyPr>
          <a:lstStyle>
            <a:lvl1pPr algn="r">
              <a:buNone/>
              <a:defRPr lang="en-US" sz="2400" b="0" cap="none" dirty="0">
                <a:ln w="3175" cmpd="sng">
                  <a:noFill/>
                </a:ln>
                <a:solidFill>
                  <a:schemeClr val="tx1"/>
                </a:solidFill>
                <a:effectLst/>
              </a:defRPr>
            </a:lvl1pPr>
          </a:lstStyle>
          <a:p>
            <a:pPr marL="0" lvl="0">
              <a:spcBef>
                <a:spcPct val="0"/>
              </a:spcBef>
              <a:buNone/>
            </a:pPr>
            <a:r>
              <a:rPr lang="en-US" smtClean="0"/>
              <a:t>Click to edit Master text styles</a:t>
            </a:r>
          </a:p>
        </p:txBody>
      </p:sp>
      <p:sp>
        <p:nvSpPr>
          <p:cNvPr id="3" name="Text Placeholder 2"/>
          <p:cNvSpPr>
            <a:spLocks noGrp="1"/>
          </p:cNvSpPr>
          <p:nvPr>
            <p:ph type="body" idx="1"/>
          </p:nvPr>
        </p:nvSpPr>
        <p:spPr>
          <a:xfrm>
            <a:off x="1484312" y="4775200"/>
            <a:ext cx="10018710" cy="1016000"/>
          </a:xfrm>
        </p:spPr>
        <p:txBody>
          <a:bodyPr anchor="t">
            <a:normAutofit/>
          </a:bodyPr>
          <a:lstStyle>
            <a:lvl1pPr marL="0" indent="0" algn="r">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411054648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484313" y="685800"/>
            <a:ext cx="10018712" cy="2727325"/>
          </a:xfrm>
        </p:spPr>
        <p:txBody>
          <a:bodyPr vert="horz" lIns="91440" tIns="45720" rIns="91440" bIns="45720" rtlCol="0" anchor="ctr">
            <a:normAutofit/>
          </a:bodyPr>
          <a:lstStyle>
            <a:lvl1pPr>
              <a:defRPr lang="en-US" b="0" dirty="0"/>
            </a:lvl1pPr>
          </a:lstStyle>
          <a:p>
            <a:pPr marL="0" lvl="0"/>
            <a:r>
              <a:rPr lang="en-US" smtClean="0"/>
              <a:t>Click to edit Master title style</a:t>
            </a:r>
            <a:endParaRPr lang="en-US" dirty="0"/>
          </a:p>
        </p:txBody>
      </p:sp>
      <p:sp>
        <p:nvSpPr>
          <p:cNvPr id="10" name="Text Placeholder 9"/>
          <p:cNvSpPr>
            <a:spLocks noGrp="1"/>
          </p:cNvSpPr>
          <p:nvPr>
            <p:ph type="body" sz="quarter" idx="13"/>
          </p:nvPr>
        </p:nvSpPr>
        <p:spPr>
          <a:xfrm>
            <a:off x="1484312" y="3505200"/>
            <a:ext cx="10018713" cy="838200"/>
          </a:xfrm>
        </p:spPr>
        <p:txBody>
          <a:bodyPr vert="horz" lIns="91440" tIns="45720" rIns="91440" bIns="45720" rtlCol="0" anchor="b">
            <a:normAutofit/>
          </a:bodyPr>
          <a:lstStyle>
            <a:lvl1pPr>
              <a:buNone/>
              <a:defRPr lang="en-US" sz="2800" b="0" cap="none" dirty="0">
                <a:ln w="3175" cmpd="sng">
                  <a:noFill/>
                </a:ln>
                <a:solidFill>
                  <a:schemeClr val="tx1"/>
                </a:solidFill>
                <a:effectLst/>
              </a:defRPr>
            </a:lvl1pPr>
          </a:lstStyle>
          <a:p>
            <a:pPr marL="0" lvl="0">
              <a:spcBef>
                <a:spcPct val="0"/>
              </a:spcBef>
              <a:buNone/>
            </a:pPr>
            <a:r>
              <a:rPr lang="en-US" smtClean="0"/>
              <a:t>Click to edit Master text styles</a:t>
            </a:r>
          </a:p>
        </p:txBody>
      </p:sp>
      <p:sp>
        <p:nvSpPr>
          <p:cNvPr id="3" name="Text Placeholder 2"/>
          <p:cNvSpPr>
            <a:spLocks noGrp="1"/>
          </p:cNvSpPr>
          <p:nvPr>
            <p:ph type="body" idx="1"/>
          </p:nvPr>
        </p:nvSpPr>
        <p:spPr>
          <a:xfrm>
            <a:off x="1484311" y="4343400"/>
            <a:ext cx="10018713" cy="14478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91606228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68338300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732655" y="685800"/>
            <a:ext cx="1770369" cy="5105400"/>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1484312" y="685800"/>
            <a:ext cx="8019742" cy="5105400"/>
          </a:xfrm>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5685371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7" name="Group 6"/>
          <p:cNvGrpSpPr/>
          <p:nvPr/>
        </p:nvGrpSpPr>
        <p:grpSpPr>
          <a:xfrm>
            <a:off x="150812" y="0"/>
            <a:ext cx="2436813" cy="6858001"/>
            <a:chOff x="1320800" y="0"/>
            <a:chExt cx="2436813" cy="6858001"/>
          </a:xfrm>
        </p:grpSpPr>
        <p:sp>
          <p:nvSpPr>
            <p:cNvPr id="8" name="Freeform 6"/>
            <p:cNvSpPr/>
            <p:nvPr/>
          </p:nvSpPr>
          <p:spPr bwMode="auto">
            <a:xfrm>
              <a:off x="1627188" y="0"/>
              <a:ext cx="1122363" cy="5329238"/>
            </a:xfrm>
            <a:custGeom>
              <a:avLst/>
              <a:gdLst/>
              <a:ahLst/>
              <a:cxnLst/>
              <a:rect l="0" t="0" r="r" b="b"/>
              <a:pathLst>
                <a:path w="707" h="3357">
                  <a:moveTo>
                    <a:pt x="0" y="3330"/>
                  </a:moveTo>
                  <a:lnTo>
                    <a:pt x="156" y="3357"/>
                  </a:lnTo>
                  <a:lnTo>
                    <a:pt x="707" y="0"/>
                  </a:lnTo>
                  <a:lnTo>
                    <a:pt x="547" y="0"/>
                  </a:lnTo>
                  <a:lnTo>
                    <a:pt x="0" y="3330"/>
                  </a:lnTo>
                  <a:close/>
                </a:path>
              </a:pathLst>
            </a:custGeom>
            <a:solidFill>
              <a:schemeClr val="accent1"/>
            </a:solidFill>
            <a:ln>
              <a:noFill/>
            </a:ln>
          </p:spPr>
        </p:sp>
        <p:sp>
          <p:nvSpPr>
            <p:cNvPr id="9" name="Freeform 7"/>
            <p:cNvSpPr/>
            <p:nvPr/>
          </p:nvSpPr>
          <p:spPr bwMode="auto">
            <a:xfrm>
              <a:off x="1320800" y="0"/>
              <a:ext cx="1117600" cy="5276850"/>
            </a:xfrm>
            <a:custGeom>
              <a:avLst/>
              <a:gdLst/>
              <a:ahLst/>
              <a:cxnLst/>
              <a:rect l="0" t="0" r="r" b="b"/>
              <a:pathLst>
                <a:path w="704" h="3324">
                  <a:moveTo>
                    <a:pt x="704" y="0"/>
                  </a:moveTo>
                  <a:lnTo>
                    <a:pt x="545" y="0"/>
                  </a:lnTo>
                  <a:lnTo>
                    <a:pt x="0" y="3300"/>
                  </a:lnTo>
                  <a:lnTo>
                    <a:pt x="157" y="3324"/>
                  </a:lnTo>
                  <a:lnTo>
                    <a:pt x="704" y="0"/>
                  </a:lnTo>
                  <a:close/>
                </a:path>
              </a:pathLst>
            </a:custGeom>
            <a:solidFill>
              <a:schemeClr val="tx1">
                <a:lumMod val="65000"/>
                <a:lumOff val="35000"/>
              </a:schemeClr>
            </a:solidFill>
            <a:ln>
              <a:noFill/>
            </a:ln>
          </p:spPr>
        </p:sp>
        <p:sp>
          <p:nvSpPr>
            <p:cNvPr id="10" name="Freeform 8"/>
            <p:cNvSpPr/>
            <p:nvPr/>
          </p:nvSpPr>
          <p:spPr bwMode="auto">
            <a:xfrm>
              <a:off x="1320800" y="5238750"/>
              <a:ext cx="1228725" cy="1619250"/>
            </a:xfrm>
            <a:custGeom>
              <a:avLst/>
              <a:gdLst/>
              <a:ahLst/>
              <a:cxnLst/>
              <a:rect l="0" t="0" r="r" b="b"/>
              <a:pathLst>
                <a:path w="774" h="1020">
                  <a:moveTo>
                    <a:pt x="0" y="0"/>
                  </a:moveTo>
                  <a:lnTo>
                    <a:pt x="740" y="1020"/>
                  </a:lnTo>
                  <a:lnTo>
                    <a:pt x="774" y="1020"/>
                  </a:lnTo>
                  <a:lnTo>
                    <a:pt x="0" y="0"/>
                  </a:lnTo>
                  <a:close/>
                </a:path>
              </a:pathLst>
            </a:custGeom>
            <a:solidFill>
              <a:schemeClr val="tx1">
                <a:lumMod val="85000"/>
                <a:lumOff val="15000"/>
              </a:schemeClr>
            </a:solidFill>
            <a:ln>
              <a:noFill/>
            </a:ln>
          </p:spPr>
        </p:sp>
        <p:sp>
          <p:nvSpPr>
            <p:cNvPr id="11" name="Freeform 9"/>
            <p:cNvSpPr/>
            <p:nvPr/>
          </p:nvSpPr>
          <p:spPr bwMode="auto">
            <a:xfrm>
              <a:off x="1627188" y="5291138"/>
              <a:ext cx="1495425" cy="1566863"/>
            </a:xfrm>
            <a:custGeom>
              <a:avLst/>
              <a:gdLst/>
              <a:ahLst/>
              <a:cxnLst/>
              <a:rect l="0" t="0" r="r" b="b"/>
              <a:pathLst>
                <a:path w="942" h="987">
                  <a:moveTo>
                    <a:pt x="0" y="0"/>
                  </a:moveTo>
                  <a:lnTo>
                    <a:pt x="909" y="987"/>
                  </a:lnTo>
                  <a:lnTo>
                    <a:pt x="942" y="987"/>
                  </a:lnTo>
                  <a:lnTo>
                    <a:pt x="0" y="0"/>
                  </a:lnTo>
                  <a:close/>
                </a:path>
              </a:pathLst>
            </a:custGeom>
            <a:solidFill>
              <a:schemeClr val="accent1">
                <a:lumMod val="50000"/>
              </a:schemeClr>
            </a:solidFill>
            <a:ln>
              <a:noFill/>
            </a:ln>
          </p:spPr>
        </p:sp>
        <p:sp>
          <p:nvSpPr>
            <p:cNvPr id="12" name="Freeform 10"/>
            <p:cNvSpPr/>
            <p:nvPr/>
          </p:nvSpPr>
          <p:spPr bwMode="auto">
            <a:xfrm>
              <a:off x="1627188" y="5286375"/>
              <a:ext cx="2130425" cy="1571625"/>
            </a:xfrm>
            <a:custGeom>
              <a:avLst/>
              <a:gdLst/>
              <a:ahLst/>
              <a:cxnLst/>
              <a:rect l="0" t="0" r="r" b="b"/>
              <a:pathLst>
                <a:path w="1342" h="990">
                  <a:moveTo>
                    <a:pt x="0" y="3"/>
                  </a:moveTo>
                  <a:lnTo>
                    <a:pt x="942" y="990"/>
                  </a:lnTo>
                  <a:lnTo>
                    <a:pt x="1342" y="990"/>
                  </a:lnTo>
                  <a:lnTo>
                    <a:pt x="156" y="27"/>
                  </a:lnTo>
                  <a:lnTo>
                    <a:pt x="0" y="0"/>
                  </a:lnTo>
                  <a:lnTo>
                    <a:pt x="0" y="3"/>
                  </a:lnTo>
                  <a:close/>
                </a:path>
              </a:pathLst>
            </a:custGeom>
            <a:solidFill>
              <a:schemeClr val="accent1">
                <a:lumMod val="75000"/>
              </a:schemeClr>
            </a:solidFill>
            <a:ln>
              <a:noFill/>
            </a:ln>
          </p:spPr>
        </p:sp>
        <p:sp>
          <p:nvSpPr>
            <p:cNvPr id="13" name="Freeform 11"/>
            <p:cNvSpPr/>
            <p:nvPr/>
          </p:nvSpPr>
          <p:spPr bwMode="auto">
            <a:xfrm>
              <a:off x="1320800" y="5238750"/>
              <a:ext cx="1695450" cy="1619250"/>
            </a:xfrm>
            <a:custGeom>
              <a:avLst/>
              <a:gdLst/>
              <a:ahLst/>
              <a:cxnLst/>
              <a:rect l="0" t="0" r="r" b="b"/>
              <a:pathLst>
                <a:path w="1068" h="1020">
                  <a:moveTo>
                    <a:pt x="1068" y="1020"/>
                  </a:moveTo>
                  <a:lnTo>
                    <a:pt x="184" y="60"/>
                  </a:lnTo>
                  <a:lnTo>
                    <a:pt x="154" y="27"/>
                  </a:lnTo>
                  <a:lnTo>
                    <a:pt x="157" y="27"/>
                  </a:lnTo>
                  <a:lnTo>
                    <a:pt x="157" y="24"/>
                  </a:lnTo>
                  <a:lnTo>
                    <a:pt x="154" y="24"/>
                  </a:lnTo>
                  <a:lnTo>
                    <a:pt x="0" y="0"/>
                  </a:lnTo>
                  <a:lnTo>
                    <a:pt x="0" y="0"/>
                  </a:lnTo>
                  <a:lnTo>
                    <a:pt x="774" y="1020"/>
                  </a:lnTo>
                  <a:lnTo>
                    <a:pt x="1068" y="1020"/>
                  </a:lnTo>
                  <a:close/>
                </a:path>
              </a:pathLst>
            </a:custGeom>
            <a:solidFill>
              <a:schemeClr val="tx1">
                <a:lumMod val="75000"/>
                <a:lumOff val="25000"/>
              </a:schemeClr>
            </a:solidFill>
            <a:ln>
              <a:noFill/>
            </a:ln>
          </p:spPr>
        </p:sp>
      </p:grpSp>
      <p:sp>
        <p:nvSpPr>
          <p:cNvPr id="2" name="Title Placeholder 1"/>
          <p:cNvSpPr>
            <a:spLocks noGrp="1"/>
          </p:cNvSpPr>
          <p:nvPr>
            <p:ph type="title"/>
          </p:nvPr>
        </p:nvSpPr>
        <p:spPr>
          <a:xfrm>
            <a:off x="1484311" y="685800"/>
            <a:ext cx="10018713" cy="1752599"/>
          </a:xfrm>
          <a:prstGeom prst="rect">
            <a:avLst/>
          </a:prstGeom>
          <a:effectLst/>
        </p:spPr>
        <p:txBody>
          <a:bodyPr vert="horz" lIns="91440" tIns="45720" rIns="91440" bIns="45720" rtlCol="0" anchor="ctr">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1484310" y="2666999"/>
            <a:ext cx="10018713" cy="3124201"/>
          </a:xfrm>
          <a:prstGeom prst="rect">
            <a:avLst/>
          </a:prstGeom>
        </p:spPr>
        <p:txBody>
          <a:bodyPr vert="horz" lIns="91440" tIns="45720" rIns="91440" bIns="45720" rtlCol="0" anchor="ct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9732656" y="5883275"/>
            <a:ext cx="1143000"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120C8855-6882-4AD7-B13D-6553AEF0D6D0}" type="datetimeFigureOut">
              <a:rPr lang="en-IN" smtClean="0"/>
              <a:t>31-01-2026</a:t>
            </a:fld>
            <a:endParaRPr lang="en-IN"/>
          </a:p>
        </p:txBody>
      </p:sp>
      <p:sp>
        <p:nvSpPr>
          <p:cNvPr id="5" name="Footer Placeholder 4"/>
          <p:cNvSpPr>
            <a:spLocks noGrp="1"/>
          </p:cNvSpPr>
          <p:nvPr>
            <p:ph type="ftr" sz="quarter" idx="3"/>
          </p:nvPr>
        </p:nvSpPr>
        <p:spPr>
          <a:xfrm>
            <a:off x="2572279" y="5883275"/>
            <a:ext cx="7084177" cy="3651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IN"/>
          </a:p>
        </p:txBody>
      </p:sp>
      <p:sp>
        <p:nvSpPr>
          <p:cNvPr id="6" name="Slide Number Placeholder 5"/>
          <p:cNvSpPr>
            <a:spLocks noGrp="1"/>
          </p:cNvSpPr>
          <p:nvPr>
            <p:ph type="sldNum" sz="quarter" idx="4"/>
          </p:nvPr>
        </p:nvSpPr>
        <p:spPr>
          <a:xfrm>
            <a:off x="10951856" y="5883275"/>
            <a:ext cx="551167"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B1519B6F-648A-4B8E-866A-FCA2E70D5839}" type="slidenum">
              <a:rPr lang="en-IN" smtClean="0"/>
              <a:t>‹#›</a:t>
            </a:fld>
            <a:endParaRPr lang="en-IN"/>
          </a:p>
        </p:txBody>
      </p:sp>
    </p:spTree>
    <p:extLst>
      <p:ext uri="{BB962C8B-B14F-4D97-AF65-F5344CB8AC3E}">
        <p14:creationId xmlns:p14="http://schemas.microsoft.com/office/powerpoint/2010/main" val="3121088454"/>
      </p:ext>
    </p:extLst>
  </p:cSld>
  <p:clrMap bg1="lt1" tx1="dk1" bg2="lt2" tx2="dk2" accent1="accent1" accent2="accent2" accent3="accent3" accent4="accent4" accent5="accent5" accent6="accent6" hlink="hlink" folHlink="folHlink"/>
  <p:sldLayoutIdLst>
    <p:sldLayoutId id="2147483713" r:id="rId1"/>
    <p:sldLayoutId id="2147483714" r:id="rId2"/>
    <p:sldLayoutId id="2147483715" r:id="rId3"/>
    <p:sldLayoutId id="2147483716" r:id="rId4"/>
    <p:sldLayoutId id="2147483717" r:id="rId5"/>
    <p:sldLayoutId id="2147483718" r:id="rId6"/>
    <p:sldLayoutId id="2147483719" r:id="rId7"/>
    <p:sldLayoutId id="2147483720" r:id="rId8"/>
    <p:sldLayoutId id="2147483721" r:id="rId9"/>
    <p:sldLayoutId id="2147483722" r:id="rId10"/>
    <p:sldLayoutId id="2147483723" r:id="rId11"/>
    <p:sldLayoutId id="2147483724" r:id="rId12"/>
    <p:sldLayoutId id="2147483725" r:id="rId13"/>
    <p:sldLayoutId id="2147483726" r:id="rId14"/>
    <p:sldLayoutId id="2147483727" r:id="rId15"/>
    <p:sldLayoutId id="2147483728" r:id="rId16"/>
    <p:sldLayoutId id="2147483729" r:id="rId17"/>
  </p:sldLayoutIdLst>
  <p:txStyles>
    <p:titleStyle>
      <a:lvl1pPr algn="ctr" defTabSz="457200" rtl="0" eaLnBrk="1" latinLnBrk="0" hangingPunct="1">
        <a:spcBef>
          <a:spcPct val="0"/>
        </a:spcBef>
        <a:buNone/>
        <a:defRPr sz="4000" kern="1200" cap="none">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756199" y="2266681"/>
            <a:ext cx="6118677" cy="895512"/>
          </a:xfrm>
        </p:spPr>
        <p:txBody>
          <a:bodyPr>
            <a:normAutofit fontScale="90000"/>
          </a:bodyPr>
          <a:lstStyle/>
          <a:p>
            <a:r>
              <a:rPr lang="en-US" dirty="0" smtClean="0">
                <a:solidFill>
                  <a:schemeClr val="accent1">
                    <a:lumMod val="75000"/>
                  </a:schemeClr>
                </a:solidFill>
              </a:rPr>
              <a:t>Digital Health Card</a:t>
            </a:r>
            <a:endParaRPr lang="en-IN" dirty="0">
              <a:solidFill>
                <a:schemeClr val="accent1">
                  <a:lumMod val="75000"/>
                </a:schemeClr>
              </a:solidFill>
            </a:endParaRPr>
          </a:p>
        </p:txBody>
      </p:sp>
      <p:sp>
        <p:nvSpPr>
          <p:cNvPr id="3" name="Subtitle 2"/>
          <p:cNvSpPr>
            <a:spLocks noGrp="1"/>
          </p:cNvSpPr>
          <p:nvPr>
            <p:ph type="subTitle" idx="1"/>
          </p:nvPr>
        </p:nvSpPr>
        <p:spPr>
          <a:xfrm>
            <a:off x="5204355" y="4910668"/>
            <a:ext cx="6987645" cy="1388534"/>
          </a:xfrm>
        </p:spPr>
        <p:txBody>
          <a:bodyPr>
            <a:noAutofit/>
          </a:bodyPr>
          <a:lstStyle/>
          <a:p>
            <a:r>
              <a:rPr lang="en-IN" sz="1800" b="1" dirty="0" err="1"/>
              <a:t>Chandrakant</a:t>
            </a:r>
            <a:r>
              <a:rPr lang="en-IN" sz="1800" b="1" dirty="0"/>
              <a:t> </a:t>
            </a:r>
            <a:r>
              <a:rPr lang="en-IN" sz="1800" b="1" dirty="0" err="1"/>
              <a:t>Palandurkar</a:t>
            </a:r>
            <a:r>
              <a:rPr lang="en-IN" sz="1800" b="1" dirty="0"/>
              <a:t> (PRN: </a:t>
            </a:r>
            <a:r>
              <a:rPr lang="en-IN" sz="1800" b="1" dirty="0" smtClean="0"/>
              <a:t>250845920015)</a:t>
            </a:r>
          </a:p>
          <a:p>
            <a:r>
              <a:rPr lang="en-IN" sz="1800" b="1" dirty="0" smtClean="0"/>
              <a:t>    </a:t>
            </a:r>
            <a:r>
              <a:rPr lang="en-IN" sz="1800" b="1" dirty="0" err="1" smtClean="0"/>
              <a:t>Kedar</a:t>
            </a:r>
            <a:r>
              <a:rPr lang="en-IN" sz="1800" b="1" dirty="0" smtClean="0"/>
              <a:t> </a:t>
            </a:r>
            <a:r>
              <a:rPr lang="en-IN" sz="1800" b="1" dirty="0"/>
              <a:t>Mane (PRN: 250845920032</a:t>
            </a:r>
            <a:r>
              <a:rPr lang="en-IN" sz="1800" b="1" dirty="0" smtClean="0"/>
              <a:t>)</a:t>
            </a:r>
          </a:p>
          <a:p>
            <a:r>
              <a:rPr lang="en-IN" sz="1800" b="1" dirty="0" err="1" smtClean="0"/>
              <a:t>Poonam</a:t>
            </a:r>
            <a:r>
              <a:rPr lang="en-IN" sz="1800" b="1" dirty="0" smtClean="0"/>
              <a:t> </a:t>
            </a:r>
            <a:r>
              <a:rPr lang="en-IN" sz="1800" b="1" dirty="0"/>
              <a:t>Agrawal (PRN: 250845920050</a:t>
            </a:r>
            <a:r>
              <a:rPr lang="en-IN" sz="1800" b="1" dirty="0" smtClean="0"/>
              <a:t>)</a:t>
            </a:r>
          </a:p>
          <a:p>
            <a:r>
              <a:rPr lang="en-IN" sz="1800" b="1" dirty="0" smtClean="0"/>
              <a:t>Puja </a:t>
            </a:r>
            <a:r>
              <a:rPr lang="en-IN" sz="1800" b="1" dirty="0" err="1"/>
              <a:t>Ulhas</a:t>
            </a:r>
            <a:r>
              <a:rPr lang="en-IN" sz="1800" b="1" dirty="0"/>
              <a:t> </a:t>
            </a:r>
            <a:r>
              <a:rPr lang="en-IN" sz="1800" b="1" dirty="0" err="1"/>
              <a:t>Wagh</a:t>
            </a:r>
            <a:r>
              <a:rPr lang="en-IN" sz="1800" b="1" dirty="0"/>
              <a:t> (PRN: 250845920063</a:t>
            </a:r>
            <a:r>
              <a:rPr lang="en-IN" sz="1800" b="1" dirty="0" smtClean="0"/>
              <a:t>)</a:t>
            </a:r>
          </a:p>
          <a:p>
            <a:r>
              <a:rPr lang="en-IN" sz="1800" b="1" dirty="0" err="1" smtClean="0"/>
              <a:t>Waghmode</a:t>
            </a:r>
            <a:r>
              <a:rPr lang="en-IN" sz="1800" b="1" dirty="0" smtClean="0"/>
              <a:t> </a:t>
            </a:r>
            <a:r>
              <a:rPr lang="en-IN" sz="1800" b="1" dirty="0" err="1"/>
              <a:t>Vaibhavi</a:t>
            </a:r>
            <a:r>
              <a:rPr lang="en-IN" sz="1800" b="1" dirty="0"/>
              <a:t> (PRN: 250245920095</a:t>
            </a:r>
          </a:p>
        </p:txBody>
      </p:sp>
      <p:pic>
        <p:nvPicPr>
          <p:cNvPr id="4098" name="Picture 2" descr="CDAC IET | Pune"/>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98177" y="58942"/>
            <a:ext cx="3429000" cy="1333501"/>
          </a:xfrm>
          <a:prstGeom prst="rect">
            <a:avLst/>
          </a:prstGeom>
          <a:noFill/>
          <a:ln>
            <a:solidFill>
              <a:schemeClr val="accent2">
                <a:lumMod val="20000"/>
                <a:lumOff val="80000"/>
              </a:schemeClr>
            </a:solidFill>
          </a:ln>
        </p:spPr>
      </p:pic>
    </p:spTree>
    <p:extLst>
      <p:ext uri="{BB962C8B-B14F-4D97-AF65-F5344CB8AC3E}">
        <p14:creationId xmlns:p14="http://schemas.microsoft.com/office/powerpoint/2010/main" val="876824690"/>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69723" y="1275008"/>
            <a:ext cx="3346172" cy="769441"/>
          </a:xfrm>
          <a:prstGeom prst="rect">
            <a:avLst/>
          </a:prstGeom>
          <a:noFill/>
        </p:spPr>
        <p:txBody>
          <a:bodyPr wrap="none" rtlCol="0">
            <a:spAutoFit/>
          </a:bodyPr>
          <a:lstStyle/>
          <a:p>
            <a:r>
              <a:rPr lang="en-US" sz="4400" dirty="0" err="1" smtClean="0">
                <a:solidFill>
                  <a:schemeClr val="accent1">
                    <a:lumMod val="75000"/>
                  </a:schemeClr>
                </a:solidFill>
                <a:latin typeface="Times New Roman" panose="02020603050405020304" pitchFamily="18" charset="0"/>
                <a:cs typeface="Times New Roman" panose="02020603050405020304" pitchFamily="18" charset="0"/>
              </a:rPr>
              <a:t>Aarogya</a:t>
            </a:r>
            <a:r>
              <a:rPr lang="en-US" sz="4400" dirty="0" smtClean="0">
                <a:solidFill>
                  <a:schemeClr val="accent1">
                    <a:lumMod val="75000"/>
                  </a:schemeClr>
                </a:solidFill>
                <a:latin typeface="Times New Roman" panose="02020603050405020304" pitchFamily="18" charset="0"/>
                <a:cs typeface="Times New Roman" panose="02020603050405020304" pitchFamily="18" charset="0"/>
              </a:rPr>
              <a:t> Card</a:t>
            </a:r>
            <a:endParaRPr lang="en-IN" sz="4400" dirty="0">
              <a:solidFill>
                <a:schemeClr val="accent1">
                  <a:lumMod val="75000"/>
                </a:schemeClr>
              </a:solidFill>
              <a:latin typeface="Times New Roman" panose="02020603050405020304" pitchFamily="18" charset="0"/>
              <a:cs typeface="Times New Roman" panose="02020603050405020304" pitchFamily="18" charset="0"/>
            </a:endParaRPr>
          </a:p>
        </p:txBody>
      </p:sp>
      <p:pic>
        <p:nvPicPr>
          <p:cNvPr id="3" name="Picture 2"/>
          <p:cNvPicPr>
            <a:picLocks noChangeAspect="1"/>
          </p:cNvPicPr>
          <p:nvPr/>
        </p:nvPicPr>
        <p:blipFill>
          <a:blip r:embed="rId2"/>
          <a:stretch>
            <a:fillRect/>
          </a:stretch>
        </p:blipFill>
        <p:spPr>
          <a:xfrm>
            <a:off x="4836581" y="2994507"/>
            <a:ext cx="2095792" cy="1409897"/>
          </a:xfrm>
          <a:prstGeom prst="rect">
            <a:avLst/>
          </a:prstGeom>
        </p:spPr>
      </p:pic>
    </p:spTree>
    <p:extLst>
      <p:ext uri="{BB962C8B-B14F-4D97-AF65-F5344CB8AC3E}">
        <p14:creationId xmlns:p14="http://schemas.microsoft.com/office/powerpoint/2010/main" val="362121692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Abstract</a:t>
            </a:r>
            <a:endParaRPr lang="en-IN" dirty="0"/>
          </a:p>
        </p:txBody>
      </p:sp>
      <p:sp>
        <p:nvSpPr>
          <p:cNvPr id="3" name="Content Placeholder 2"/>
          <p:cNvSpPr>
            <a:spLocks noGrp="1"/>
          </p:cNvSpPr>
          <p:nvPr>
            <p:ph idx="1"/>
          </p:nvPr>
        </p:nvSpPr>
        <p:spPr/>
        <p:txBody>
          <a:bodyPr>
            <a:normAutofit/>
          </a:bodyPr>
          <a:lstStyle/>
          <a:p>
            <a:r>
              <a:rPr lang="en-US" sz="2000" dirty="0">
                <a:latin typeface="Times New Roman" panose="02020603050405020304" pitchFamily="18" charset="0"/>
                <a:cs typeface="Times New Roman" panose="02020603050405020304" pitchFamily="18" charset="0"/>
              </a:rPr>
              <a:t>The Digital Health Card System is a secure healthcare management platform that allows patients to access and manage their medical records digitally. The system eliminates the need for carrying physical medical reports by providing centralized, role-based access to patient health data. It involves five main entities: Admin, Patient, Doctor, Lab Technician, and Nominee. </a:t>
            </a:r>
            <a:r>
              <a:rPr lang="en-US" sz="2000" dirty="0" err="1">
                <a:latin typeface="Times New Roman" panose="02020603050405020304" pitchFamily="18" charset="0"/>
                <a:cs typeface="Times New Roman" panose="02020603050405020304" pitchFamily="18" charset="0"/>
              </a:rPr>
              <a:t>Aadhaar</a:t>
            </a:r>
            <a:r>
              <a:rPr lang="en-US" sz="2000" dirty="0">
                <a:latin typeface="Times New Roman" panose="02020603050405020304" pitchFamily="18" charset="0"/>
                <a:cs typeface="Times New Roman" panose="02020603050405020304" pitchFamily="18" charset="0"/>
              </a:rPr>
              <a:t>-based authentication, admin verification, and patient consent ensure data security, privacy, and controlled access to sensitive medical information.</a:t>
            </a:r>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0998114"/>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Introduction</a:t>
            </a:r>
            <a:endParaRPr lang="en-IN" dirty="0"/>
          </a:p>
        </p:txBody>
      </p:sp>
      <p:sp>
        <p:nvSpPr>
          <p:cNvPr id="3" name="Content Placeholder 2"/>
          <p:cNvSpPr>
            <a:spLocks noGrp="1"/>
          </p:cNvSpPr>
          <p:nvPr>
            <p:ph idx="1"/>
          </p:nvPr>
        </p:nvSpPr>
        <p:spPr/>
        <p:txBody>
          <a:bodyPr>
            <a:normAutofit fontScale="25000" lnSpcReduction="20000"/>
          </a:bodyPr>
          <a:lstStyle/>
          <a:p>
            <a:r>
              <a:rPr lang="en-US" sz="8000" dirty="0">
                <a:latin typeface="Times New Roman" panose="02020603050405020304" pitchFamily="18" charset="0"/>
                <a:cs typeface="Times New Roman" panose="02020603050405020304" pitchFamily="18" charset="0"/>
              </a:rPr>
              <a:t>In today’s fast-paced healthcare environment, managing medical records in physical form has become inefficient and unreliable. Patients often misplace reports or forget to carry them during consultations, leading to delays in diagnosis and treatment. Moreover, sharing medical data among healthcare providers remains a challenge due to the lack of a centralized and secure platform.</a:t>
            </a:r>
          </a:p>
          <a:p>
            <a:r>
              <a:rPr lang="en-US" sz="8000" dirty="0">
                <a:latin typeface="Times New Roman" panose="02020603050405020304" pitchFamily="18" charset="0"/>
                <a:cs typeface="Times New Roman" panose="02020603050405020304" pitchFamily="18" charset="0"/>
              </a:rPr>
              <a:t>The Digital Health Card System addresses these challenges by providing a secure digital solution for storing and accessing patient medical records. The system uses </a:t>
            </a:r>
            <a:r>
              <a:rPr lang="en-US" sz="8000" dirty="0" err="1">
                <a:latin typeface="Times New Roman" panose="02020603050405020304" pitchFamily="18" charset="0"/>
                <a:cs typeface="Times New Roman" panose="02020603050405020304" pitchFamily="18" charset="0"/>
              </a:rPr>
              <a:t>Aadhaar</a:t>
            </a:r>
            <a:r>
              <a:rPr lang="en-US" sz="8000" dirty="0">
                <a:latin typeface="Times New Roman" panose="02020603050405020304" pitchFamily="18" charset="0"/>
                <a:cs typeface="Times New Roman" panose="02020603050405020304" pitchFamily="18" charset="0"/>
              </a:rPr>
              <a:t>-based authentication to uniquely identify patients and generates a Health Card ID that acts as a digital identity for accessing medical data. With role-based access control, the system ensures that only authorized users such as doctors and lab technicians can upload or modify patient data after admin verification. Additionally, the nominee-based emergency access mechanism allows doctors to access patient medical history during critical situations. This system aims to improve healthcare efficiency, data accessibility, and patient safety.</a:t>
            </a:r>
          </a:p>
          <a:p>
            <a:endParaRPr lang="en-IN" dirty="0"/>
          </a:p>
        </p:txBody>
      </p:sp>
    </p:spTree>
    <p:extLst>
      <p:ext uri="{BB962C8B-B14F-4D97-AF65-F5344CB8AC3E}">
        <p14:creationId xmlns:p14="http://schemas.microsoft.com/office/powerpoint/2010/main" val="147698246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Problem Statement</a:t>
            </a:r>
            <a:endParaRPr lang="en-IN" dirty="0"/>
          </a:p>
        </p:txBody>
      </p:sp>
      <p:sp>
        <p:nvSpPr>
          <p:cNvPr id="3" name="Content Placeholder 2"/>
          <p:cNvSpPr>
            <a:spLocks noGrp="1"/>
          </p:cNvSpPr>
          <p:nvPr>
            <p:ph idx="1"/>
          </p:nvPr>
        </p:nvSpPr>
        <p:spPr/>
        <p:txBody>
          <a:bodyPr>
            <a:normAutofit/>
          </a:bodyPr>
          <a:lstStyle/>
          <a:p>
            <a:r>
              <a:rPr lang="en-US" sz="2000" dirty="0">
                <a:latin typeface="Times New Roman" panose="02020603050405020304" pitchFamily="18" charset="0"/>
                <a:cs typeface="Times New Roman" panose="02020603050405020304" pitchFamily="18" charset="0"/>
              </a:rPr>
              <a:t>In the existing healthcare system, patients are required to carry physical medical reports during hospital visits or emergencies. These reports can be misplaced, damaged, or unavailable when urgently needed. There is no centralized, secure, and easily accessible digital platform that allows patients, doctors, and laboratories to manage medical records efficiently. Additionally, unauthorized access to sensitive health data and lack of patient consent mechanisms create privacy and security concerns. Hence, there is a need for a secure digital system that enables electronic storage, controlled access, and easy retrieval of medical records using reliable authentication methods.</a:t>
            </a:r>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51756247"/>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Project Overview</a:t>
            </a:r>
            <a:endParaRPr lang="en-IN" dirty="0"/>
          </a:p>
        </p:txBody>
      </p:sp>
      <p:sp>
        <p:nvSpPr>
          <p:cNvPr id="3" name="Content Placeholder 2"/>
          <p:cNvSpPr>
            <a:spLocks noGrp="1"/>
          </p:cNvSpPr>
          <p:nvPr>
            <p:ph idx="1"/>
          </p:nvPr>
        </p:nvSpPr>
        <p:spPr/>
        <p:txBody>
          <a:bodyPr>
            <a:normAutofit/>
          </a:bodyPr>
          <a:lstStyle/>
          <a:p>
            <a:r>
              <a:rPr lang="en-US" sz="2000" dirty="0">
                <a:latin typeface="Times New Roman" panose="02020603050405020304" pitchFamily="18" charset="0"/>
                <a:cs typeface="Times New Roman" panose="02020603050405020304" pitchFamily="18" charset="0"/>
              </a:rPr>
              <a:t>The </a:t>
            </a:r>
            <a:r>
              <a:rPr lang="en-US" sz="2000" b="1" dirty="0">
                <a:latin typeface="Times New Roman" panose="02020603050405020304" pitchFamily="18" charset="0"/>
                <a:cs typeface="Times New Roman" panose="02020603050405020304" pitchFamily="18" charset="0"/>
              </a:rPr>
              <a:t>Digital Health Card System</a:t>
            </a:r>
            <a:r>
              <a:rPr lang="en-US" sz="2000" dirty="0">
                <a:latin typeface="Times New Roman" panose="02020603050405020304" pitchFamily="18" charset="0"/>
                <a:cs typeface="Times New Roman" panose="02020603050405020304" pitchFamily="18" charset="0"/>
              </a:rPr>
              <a:t> is designed to provide patients with secure digital access to their medical records, eliminating the need to carry physical reports. The system ensures centralized storage, controlled access, and role-based permissions for healthcare stakeholders.</a:t>
            </a:r>
          </a:p>
          <a:p>
            <a:r>
              <a:rPr lang="en-US" sz="2000" dirty="0">
                <a:latin typeface="Times New Roman" panose="02020603050405020304" pitchFamily="18" charset="0"/>
                <a:cs typeface="Times New Roman" panose="02020603050405020304" pitchFamily="18" charset="0"/>
              </a:rPr>
              <a:t>The system consists of </a:t>
            </a:r>
            <a:r>
              <a:rPr lang="en-US" sz="2000" b="1" dirty="0">
                <a:latin typeface="Times New Roman" panose="02020603050405020304" pitchFamily="18" charset="0"/>
                <a:cs typeface="Times New Roman" panose="02020603050405020304" pitchFamily="18" charset="0"/>
              </a:rPr>
              <a:t>five main entities</a:t>
            </a:r>
            <a:r>
              <a:rPr lang="en-US" sz="2000" dirty="0">
                <a:latin typeface="Times New Roman" panose="02020603050405020304" pitchFamily="18" charset="0"/>
                <a:cs typeface="Times New Roman" panose="02020603050405020304" pitchFamily="18" charset="0"/>
              </a:rPr>
              <a:t>:</a:t>
            </a:r>
            <a:br>
              <a:rPr lang="en-US" sz="2000" dirty="0">
                <a:latin typeface="Times New Roman" panose="02020603050405020304" pitchFamily="18" charset="0"/>
                <a:cs typeface="Times New Roman" panose="02020603050405020304" pitchFamily="18" charset="0"/>
              </a:rPr>
            </a:br>
            <a:r>
              <a:rPr lang="en-US" sz="2000" b="1" dirty="0">
                <a:latin typeface="Times New Roman" panose="02020603050405020304" pitchFamily="18" charset="0"/>
                <a:cs typeface="Times New Roman" panose="02020603050405020304" pitchFamily="18" charset="0"/>
              </a:rPr>
              <a:t>Admin, Patient, Doctor, Nominee, and Lab Technician</a:t>
            </a:r>
            <a:r>
              <a:rPr lang="en-US" sz="2000" dirty="0">
                <a:latin typeface="Times New Roman" panose="02020603050405020304" pitchFamily="18" charset="0"/>
                <a:cs typeface="Times New Roman" panose="02020603050405020304" pitchFamily="18" charset="0"/>
              </a:rPr>
              <a:t>.</a:t>
            </a:r>
          </a:p>
          <a:p>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76017397"/>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Aim</a:t>
            </a:r>
            <a:endParaRPr lang="en-IN" dirty="0"/>
          </a:p>
        </p:txBody>
      </p:sp>
      <p:sp>
        <p:nvSpPr>
          <p:cNvPr id="3" name="Content Placeholder 2"/>
          <p:cNvSpPr>
            <a:spLocks noGrp="1"/>
          </p:cNvSpPr>
          <p:nvPr>
            <p:ph idx="1"/>
          </p:nvPr>
        </p:nvSpPr>
        <p:spPr/>
        <p:txBody>
          <a:bodyPr>
            <a:normAutofit/>
          </a:bodyPr>
          <a:lstStyle/>
          <a:p>
            <a:r>
              <a:rPr lang="en-US" sz="2000" dirty="0" smtClean="0">
                <a:latin typeface="Times New Roman" panose="02020603050405020304" pitchFamily="18" charset="0"/>
                <a:cs typeface="Times New Roman" panose="02020603050405020304" pitchFamily="18" charset="0"/>
              </a:rPr>
              <a:t>The </a:t>
            </a:r>
            <a:r>
              <a:rPr lang="en-US" sz="2000" dirty="0">
                <a:latin typeface="Times New Roman" panose="02020603050405020304" pitchFamily="18" charset="0"/>
                <a:cs typeface="Times New Roman" panose="02020603050405020304" pitchFamily="18" charset="0"/>
              </a:rPr>
              <a:t>aim of the </a:t>
            </a:r>
            <a:r>
              <a:rPr lang="en-US" sz="2000" b="1" dirty="0">
                <a:latin typeface="Times New Roman" panose="02020603050405020304" pitchFamily="18" charset="0"/>
                <a:cs typeface="Times New Roman" panose="02020603050405020304" pitchFamily="18" charset="0"/>
              </a:rPr>
              <a:t>Digital Health Card System</a:t>
            </a:r>
            <a:r>
              <a:rPr lang="en-US" sz="2000" dirty="0">
                <a:latin typeface="Times New Roman" panose="02020603050405020304" pitchFamily="18" charset="0"/>
                <a:cs typeface="Times New Roman" panose="02020603050405020304" pitchFamily="18" charset="0"/>
              </a:rPr>
              <a:t> is to provide a secure, centralized, and digital platform for managing patient medical records, enabling easy access to health information for patients, doctors, and lab technicians while eliminating the need for carrying physical medical reports</a:t>
            </a:r>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45217266"/>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Objective</a:t>
            </a:r>
            <a:endParaRPr lang="en-IN" dirty="0"/>
          </a:p>
        </p:txBody>
      </p:sp>
      <p:sp>
        <p:nvSpPr>
          <p:cNvPr id="5" name="Rectangle 3"/>
          <p:cNvSpPr>
            <a:spLocks noGrp="1" noChangeArrowheads="1"/>
          </p:cNvSpPr>
          <p:nvPr>
            <p:ph idx="1"/>
          </p:nvPr>
        </p:nvSpPr>
        <p:spPr bwMode="auto">
          <a:xfrm>
            <a:off x="1484312" y="2490164"/>
            <a:ext cx="9436973" cy="3477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develop a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Digital Health Card System</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that allows patients to access medical records digitally.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eliminate the need for carrying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physical medical reports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implement </a:t>
            </a:r>
            <a:r>
              <a:rPr kumimoji="0" lang="en-US" sz="20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-based authentication and OTP verification</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for secure patient registration and login.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generate a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unique Health Card ID (HC + </a:t>
            </a:r>
            <a:r>
              <a:rPr kumimoji="0" lang="en-US" sz="20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Number)</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for each patient.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provide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role-based access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for Admin, Patient, Doctor, Lab Technician, and Nominee.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ensure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admin verification</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of doctors and lab technicians before system access.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allow doctors and lab technicians to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upload and manage medical reports digitally</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provide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patient consent-based access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to doctors for viewing medical records.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support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emergency access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through nominee authorization.</a:t>
            </a:r>
          </a:p>
        </p:txBody>
      </p:sp>
    </p:spTree>
    <p:extLst>
      <p:ext uri="{BB962C8B-B14F-4D97-AF65-F5344CB8AC3E}">
        <p14:creationId xmlns:p14="http://schemas.microsoft.com/office/powerpoint/2010/main" val="3686323613"/>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Scope of the Project</a:t>
            </a:r>
          </a:p>
        </p:txBody>
      </p:sp>
      <p:sp>
        <p:nvSpPr>
          <p:cNvPr id="3" name="Content Placeholder 2"/>
          <p:cNvSpPr>
            <a:spLocks noGrp="1"/>
          </p:cNvSpPr>
          <p:nvPr>
            <p:ph idx="1"/>
          </p:nvPr>
        </p:nvSpPr>
        <p:spPr>
          <a:xfrm>
            <a:off x="1484311" y="3040486"/>
            <a:ext cx="10018713" cy="3124201"/>
          </a:xfrm>
        </p:spPr>
        <p:txBody>
          <a:bodyPr>
            <a:noAutofit/>
          </a:bodyPr>
          <a:lstStyle/>
          <a:p>
            <a:r>
              <a:rPr lang="en-US" sz="2000" dirty="0">
                <a:latin typeface="Times New Roman" panose="02020603050405020304" pitchFamily="18" charset="0"/>
                <a:cs typeface="Times New Roman" panose="02020603050405020304" pitchFamily="18" charset="0"/>
              </a:rPr>
              <a:t>The scope of the Digital Health Card System includes:</a:t>
            </a:r>
          </a:p>
          <a:p>
            <a:r>
              <a:rPr lang="en-US" sz="2000" dirty="0">
                <a:latin typeface="Times New Roman" panose="02020603050405020304" pitchFamily="18" charset="0"/>
                <a:cs typeface="Times New Roman" panose="02020603050405020304" pitchFamily="18" charset="0"/>
              </a:rPr>
              <a:t>Secure storage and management of patient health records.</a:t>
            </a:r>
          </a:p>
          <a:p>
            <a:r>
              <a:rPr lang="en-US" sz="2000" dirty="0" err="1">
                <a:latin typeface="Times New Roman" panose="02020603050405020304" pitchFamily="18" charset="0"/>
                <a:cs typeface="Times New Roman" panose="02020603050405020304" pitchFamily="18" charset="0"/>
              </a:rPr>
              <a:t>Aadhaar</a:t>
            </a:r>
            <a:r>
              <a:rPr lang="en-US" sz="2000" dirty="0">
                <a:latin typeface="Times New Roman" panose="02020603050405020304" pitchFamily="18" charset="0"/>
                <a:cs typeface="Times New Roman" panose="02020603050405020304" pitchFamily="18" charset="0"/>
              </a:rPr>
              <a:t>-based patient identity verification.</a:t>
            </a:r>
          </a:p>
          <a:p>
            <a:r>
              <a:rPr lang="en-US" sz="2000" dirty="0">
                <a:latin typeface="Times New Roman" panose="02020603050405020304" pitchFamily="18" charset="0"/>
                <a:cs typeface="Times New Roman" panose="02020603050405020304" pitchFamily="18" charset="0"/>
              </a:rPr>
              <a:t>Digital access to prescriptions, lab reports, and medical history.</a:t>
            </a:r>
          </a:p>
          <a:p>
            <a:r>
              <a:rPr lang="en-US" sz="2000" dirty="0">
                <a:latin typeface="Times New Roman" panose="02020603050405020304" pitchFamily="18" charset="0"/>
                <a:cs typeface="Times New Roman" panose="02020603050405020304" pitchFamily="18" charset="0"/>
              </a:rPr>
              <a:t>Admin-controlled verification of healthcare professionals.</a:t>
            </a:r>
          </a:p>
          <a:p>
            <a:r>
              <a:rPr lang="en-US" sz="2000" dirty="0">
                <a:latin typeface="Times New Roman" panose="02020603050405020304" pitchFamily="18" charset="0"/>
                <a:cs typeface="Times New Roman" panose="02020603050405020304" pitchFamily="18" charset="0"/>
              </a:rPr>
              <a:t>Consent-based and emergency access mechanisms.</a:t>
            </a:r>
          </a:p>
          <a:p>
            <a:r>
              <a:rPr lang="en-US" sz="2000" dirty="0">
                <a:latin typeface="Times New Roman" panose="02020603050405020304" pitchFamily="18" charset="0"/>
                <a:cs typeface="Times New Roman" panose="02020603050405020304" pitchFamily="18" charset="0"/>
              </a:rPr>
              <a:t>The system is designed for </a:t>
            </a:r>
            <a:r>
              <a:rPr lang="en-US" sz="2000" b="1" dirty="0">
                <a:latin typeface="Times New Roman" panose="02020603050405020304" pitchFamily="18" charset="0"/>
                <a:cs typeface="Times New Roman" panose="02020603050405020304" pitchFamily="18" charset="0"/>
              </a:rPr>
              <a:t>hospitals, clinics, diagnostic labs, and patients</a:t>
            </a:r>
            <a:r>
              <a:rPr lang="en-US" sz="2000" dirty="0">
                <a:latin typeface="Times New Roman" panose="02020603050405020304" pitchFamily="18" charset="0"/>
                <a:cs typeface="Times New Roman" panose="02020603050405020304" pitchFamily="18" charset="0"/>
              </a:rPr>
              <a:t>.</a:t>
            </a:r>
          </a:p>
          <a:p>
            <a:r>
              <a:rPr lang="en-US" sz="2000" dirty="0">
                <a:latin typeface="Times New Roman" panose="02020603050405020304" pitchFamily="18" charset="0"/>
                <a:cs typeface="Times New Roman" panose="02020603050405020304" pitchFamily="18" charset="0"/>
              </a:rPr>
              <a:t>The project focuses on </a:t>
            </a:r>
            <a:r>
              <a:rPr lang="en-US" sz="2000" b="1" dirty="0">
                <a:latin typeface="Times New Roman" panose="02020603050405020304" pitchFamily="18" charset="0"/>
                <a:cs typeface="Times New Roman" panose="02020603050405020304" pitchFamily="18" charset="0"/>
              </a:rPr>
              <a:t>digital record management</a:t>
            </a:r>
            <a:r>
              <a:rPr lang="en-US" sz="2000" dirty="0">
                <a:latin typeface="Times New Roman" panose="02020603050405020304" pitchFamily="18" charset="0"/>
                <a:cs typeface="Times New Roman" panose="02020603050405020304" pitchFamily="18" charset="0"/>
              </a:rPr>
              <a:t> and does not replace medical diagnosis or treatment processes.</a:t>
            </a:r>
          </a:p>
          <a:p>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32142558"/>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Limitations</a:t>
            </a:r>
          </a:p>
        </p:txBody>
      </p:sp>
      <p:sp>
        <p:nvSpPr>
          <p:cNvPr id="5" name="Rectangle 2"/>
          <p:cNvSpPr>
            <a:spLocks noGrp="1" noChangeArrowheads="1"/>
          </p:cNvSpPr>
          <p:nvPr>
            <p:ph idx="1"/>
          </p:nvPr>
        </p:nvSpPr>
        <p:spPr bwMode="auto">
          <a:xfrm>
            <a:off x="1484311" y="2847637"/>
            <a:ext cx="8738033"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Requires </a:t>
            </a:r>
            <a:r>
              <a:rPr kumimoji="0" lang="en-US" sz="20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card and linked mobile number</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for authentication.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Needs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continuous internet connection</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to work properly.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Uses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hardcoded admin credentials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which limits scalability.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Emergency access depends on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admin/nominee approval</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which may cause delay.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No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offline access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to medical records.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Users with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low technical knowledge</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may find it difficult to use</a:t>
            </a:r>
          </a:p>
        </p:txBody>
      </p:sp>
    </p:spTree>
    <p:extLst>
      <p:ext uri="{BB962C8B-B14F-4D97-AF65-F5344CB8AC3E}">
        <p14:creationId xmlns:p14="http://schemas.microsoft.com/office/powerpoint/2010/main" val="140793565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353501" y="2342813"/>
            <a:ext cx="3401893" cy="1323439"/>
          </a:xfrm>
          <a:prstGeom prst="rect">
            <a:avLst/>
          </a:prstGeom>
        </p:spPr>
        <p:txBody>
          <a:bodyPr wrap="none">
            <a:spAutoFit/>
          </a:bodyPr>
          <a:lstStyle/>
          <a:p>
            <a:r>
              <a:rPr lang="en-IN" sz="8000" dirty="0"/>
              <a:t>Module</a:t>
            </a:r>
          </a:p>
        </p:txBody>
      </p:sp>
    </p:spTree>
    <p:extLst>
      <p:ext uri="{BB962C8B-B14F-4D97-AF65-F5344CB8AC3E}">
        <p14:creationId xmlns:p14="http://schemas.microsoft.com/office/powerpoint/2010/main" val="3885967307"/>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914660" y="1119113"/>
            <a:ext cx="6096000" cy="3170099"/>
          </a:xfrm>
          <a:prstGeom prst="rect">
            <a:avLst/>
          </a:prstGeom>
        </p:spPr>
        <p:txBody>
          <a:bodyPr>
            <a:spAutoFit/>
          </a:bodyPr>
          <a:lstStyle/>
          <a:p>
            <a:r>
              <a:rPr lang="en-US" sz="4000" b="1" dirty="0"/>
              <a:t>Admin </a:t>
            </a:r>
            <a:r>
              <a:rPr lang="en-US" sz="4000" b="1" dirty="0" smtClean="0"/>
              <a:t>Module</a:t>
            </a:r>
          </a:p>
          <a:p>
            <a:endParaRPr lang="en-US" sz="4000" b="1" dirty="0"/>
          </a:p>
          <a:p>
            <a:endParaRPr lang="en-US" sz="4000" b="1" dirty="0"/>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Admin login using hardcoded credentials.</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Verification and approval of doctor registrations.</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Verification and approval of lab technician registrations.</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Management of emergency access permissions.</a:t>
            </a:r>
          </a:p>
        </p:txBody>
      </p:sp>
      <p:pic>
        <p:nvPicPr>
          <p:cNvPr id="3" name="Picture 2"/>
          <p:cNvPicPr>
            <a:picLocks noChangeAspect="1"/>
          </p:cNvPicPr>
          <p:nvPr/>
        </p:nvPicPr>
        <p:blipFill>
          <a:blip r:embed="rId2"/>
          <a:stretch>
            <a:fillRect/>
          </a:stretch>
        </p:blipFill>
        <p:spPr>
          <a:xfrm>
            <a:off x="8190942" y="1"/>
            <a:ext cx="4001058" cy="6857999"/>
          </a:xfrm>
          <a:prstGeom prst="rect">
            <a:avLst/>
          </a:prstGeom>
        </p:spPr>
      </p:pic>
    </p:spTree>
    <p:extLst>
      <p:ext uri="{BB962C8B-B14F-4D97-AF65-F5344CB8AC3E}">
        <p14:creationId xmlns:p14="http://schemas.microsoft.com/office/powerpoint/2010/main" val="350298518"/>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004812" y="1315258"/>
            <a:ext cx="6096000" cy="2923877"/>
          </a:xfrm>
          <a:prstGeom prst="rect">
            <a:avLst/>
          </a:prstGeom>
        </p:spPr>
        <p:txBody>
          <a:bodyPr>
            <a:spAutoFit/>
          </a:bodyPr>
          <a:lstStyle/>
          <a:p>
            <a:r>
              <a:rPr lang="en-IN" sz="4000" b="1" dirty="0"/>
              <a:t>Patient</a:t>
            </a:r>
            <a:r>
              <a:rPr lang="en-US" sz="4000" b="1" dirty="0" smtClean="0"/>
              <a:t> </a:t>
            </a:r>
            <a:r>
              <a:rPr lang="en-US" sz="4000" b="1" dirty="0"/>
              <a:t>Module</a:t>
            </a:r>
          </a:p>
          <a:p>
            <a:endParaRPr lang="en-US" sz="3600" b="1" dirty="0" smtClean="0"/>
          </a:p>
          <a:p>
            <a:endParaRPr lang="en-US" sz="3600" b="1" dirty="0"/>
          </a:p>
          <a:p>
            <a:r>
              <a:rPr lang="en-US" sz="3600" b="1" dirty="0" smtClean="0"/>
              <a:t>  </a:t>
            </a:r>
          </a:p>
          <a:p>
            <a:endParaRPr lang="en-US" sz="3600" b="1" dirty="0"/>
          </a:p>
        </p:txBody>
      </p:sp>
      <p:sp>
        <p:nvSpPr>
          <p:cNvPr id="5" name="Rectangle 3"/>
          <p:cNvSpPr>
            <a:spLocks noChangeArrowheads="1"/>
          </p:cNvSpPr>
          <p:nvPr/>
        </p:nvSpPr>
        <p:spPr bwMode="auto">
          <a:xfrm>
            <a:off x="2004812" y="2547095"/>
            <a:ext cx="6117637"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Registration using </a:t>
            </a:r>
            <a:r>
              <a:rPr kumimoji="0" 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card.</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OTP-based login authentication.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Automatic fetching of patient details using </a:t>
            </a:r>
            <a:r>
              <a:rPr kumimoji="0" 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data.</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Generation of Health Card ID (HC + </a:t>
            </a:r>
            <a:r>
              <a:rPr kumimoji="0" 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Number).</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Viewing personal details and nominee information.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Viewing uploaded medical reports.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Approval or rejection of doctor access requests.</a:t>
            </a:r>
          </a:p>
        </p:txBody>
      </p:sp>
      <p:pic>
        <p:nvPicPr>
          <p:cNvPr id="6" name="Picture 5"/>
          <p:cNvPicPr>
            <a:picLocks noChangeAspect="1"/>
          </p:cNvPicPr>
          <p:nvPr/>
        </p:nvPicPr>
        <p:blipFill>
          <a:blip r:embed="rId2"/>
          <a:stretch>
            <a:fillRect/>
          </a:stretch>
        </p:blipFill>
        <p:spPr>
          <a:xfrm>
            <a:off x="8209994" y="0"/>
            <a:ext cx="3982006" cy="6858000"/>
          </a:xfrm>
          <a:prstGeom prst="rect">
            <a:avLst/>
          </a:prstGeom>
        </p:spPr>
      </p:pic>
    </p:spTree>
    <p:extLst>
      <p:ext uri="{BB962C8B-B14F-4D97-AF65-F5344CB8AC3E}">
        <p14:creationId xmlns:p14="http://schemas.microsoft.com/office/powerpoint/2010/main" val="1465798707"/>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901780" y="954651"/>
            <a:ext cx="8761927" cy="3785652"/>
          </a:xfrm>
          <a:prstGeom prst="rect">
            <a:avLst/>
          </a:prstGeom>
        </p:spPr>
        <p:txBody>
          <a:bodyPr wrap="square">
            <a:spAutoFit/>
          </a:bodyPr>
          <a:lstStyle/>
          <a:p>
            <a:r>
              <a:rPr lang="en-US" sz="4000" b="1" dirty="0"/>
              <a:t>Doctor </a:t>
            </a:r>
            <a:r>
              <a:rPr lang="en-US" sz="4000" b="1" dirty="0" smtClean="0"/>
              <a:t>Module</a:t>
            </a:r>
          </a:p>
          <a:p>
            <a:endParaRPr lang="en-US" sz="4000" b="1" dirty="0"/>
          </a:p>
          <a:p>
            <a:endParaRPr lang="en-US" sz="4000" b="1" dirty="0"/>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Doctor registration and profile submission.</a:t>
            </a:r>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Login after admin verification.</a:t>
            </a:r>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Search patient using Health Card ID.</a:t>
            </a:r>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Request patient consent to access medical records.</a:t>
            </a:r>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View and edit patient medical information.</a:t>
            </a:r>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Upload prescriptions and medical reports</a:t>
            </a:r>
            <a:r>
              <a:rPr lang="en-US" sz="2000" dirty="0"/>
              <a:t>.</a:t>
            </a:r>
          </a:p>
        </p:txBody>
      </p:sp>
      <p:pic>
        <p:nvPicPr>
          <p:cNvPr id="4" name="Picture 3"/>
          <p:cNvPicPr>
            <a:picLocks noChangeAspect="1"/>
          </p:cNvPicPr>
          <p:nvPr/>
        </p:nvPicPr>
        <p:blipFill>
          <a:blip r:embed="rId2"/>
          <a:stretch>
            <a:fillRect/>
          </a:stretch>
        </p:blipFill>
        <p:spPr>
          <a:xfrm>
            <a:off x="8190942" y="0"/>
            <a:ext cx="4001058" cy="6858000"/>
          </a:xfrm>
          <a:prstGeom prst="rect">
            <a:avLst/>
          </a:prstGeom>
        </p:spPr>
      </p:pic>
    </p:spTree>
    <p:extLst>
      <p:ext uri="{BB962C8B-B14F-4D97-AF65-F5344CB8AC3E}">
        <p14:creationId xmlns:p14="http://schemas.microsoft.com/office/powerpoint/2010/main" val="2423025254"/>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876022" y="1183508"/>
            <a:ext cx="6096000" cy="3170099"/>
          </a:xfrm>
          <a:prstGeom prst="rect">
            <a:avLst/>
          </a:prstGeom>
        </p:spPr>
        <p:txBody>
          <a:bodyPr>
            <a:spAutoFit/>
          </a:bodyPr>
          <a:lstStyle/>
          <a:p>
            <a:r>
              <a:rPr lang="en-US" sz="4000" b="1" dirty="0"/>
              <a:t>Lab Technician </a:t>
            </a:r>
            <a:r>
              <a:rPr lang="en-US" sz="4000" b="1" dirty="0" smtClean="0"/>
              <a:t>Module</a:t>
            </a:r>
          </a:p>
          <a:p>
            <a:endParaRPr lang="en-US" sz="4000" b="1" dirty="0"/>
          </a:p>
          <a:p>
            <a:endParaRPr lang="en-US" sz="4000" b="1" dirty="0"/>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Lab technician registration.</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Login after admin verification.</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Search patient using Health Card ID.</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Upload diagnostic and laboratory reports.</a:t>
            </a:r>
          </a:p>
        </p:txBody>
      </p:sp>
      <p:pic>
        <p:nvPicPr>
          <p:cNvPr id="4" name="Picture 3"/>
          <p:cNvPicPr>
            <a:picLocks noChangeAspect="1"/>
          </p:cNvPicPr>
          <p:nvPr/>
        </p:nvPicPr>
        <p:blipFill>
          <a:blip r:embed="rId2"/>
          <a:stretch>
            <a:fillRect/>
          </a:stretch>
        </p:blipFill>
        <p:spPr>
          <a:xfrm>
            <a:off x="8200468" y="0"/>
            <a:ext cx="3991532" cy="6857999"/>
          </a:xfrm>
          <a:prstGeom prst="rect">
            <a:avLst/>
          </a:prstGeom>
        </p:spPr>
      </p:pic>
    </p:spTree>
    <p:extLst>
      <p:ext uri="{BB962C8B-B14F-4D97-AF65-F5344CB8AC3E}">
        <p14:creationId xmlns:p14="http://schemas.microsoft.com/office/powerpoint/2010/main" val="2763101555"/>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4004415" y="423860"/>
            <a:ext cx="4447051" cy="707886"/>
          </a:xfrm>
          <a:prstGeom prst="rect">
            <a:avLst/>
          </a:prstGeom>
        </p:spPr>
        <p:txBody>
          <a:bodyPr wrap="none">
            <a:spAutoFit/>
          </a:bodyPr>
          <a:lstStyle/>
          <a:p>
            <a:r>
              <a:rPr lang="en-US" sz="4000" b="1" dirty="0" smtClean="0"/>
              <a:t>Data Flow Diagram</a:t>
            </a:r>
            <a:endParaRPr lang="en-IN" sz="4000" b="1" dirty="0"/>
          </a:p>
        </p:txBody>
      </p:sp>
      <p:pic>
        <p:nvPicPr>
          <p:cNvPr id="1026" name="Picture 2" descr="DFD2Diagra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13645" y="1532586"/>
            <a:ext cx="10019763" cy="49712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03279236"/>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177635" y="333709"/>
            <a:ext cx="5522281" cy="707886"/>
          </a:xfrm>
          <a:prstGeom prst="rect">
            <a:avLst/>
          </a:prstGeom>
        </p:spPr>
        <p:txBody>
          <a:bodyPr wrap="none">
            <a:spAutoFit/>
          </a:bodyPr>
          <a:lstStyle/>
          <a:p>
            <a:r>
              <a:rPr lang="en-US" sz="4000" b="1" dirty="0" smtClean="0"/>
              <a:t>Entity Relation Diagram</a:t>
            </a:r>
            <a:endParaRPr lang="en-IN" sz="4000" b="1" dirty="0"/>
          </a:p>
        </p:txBody>
      </p:sp>
      <p:pic>
        <p:nvPicPr>
          <p:cNvPr id="2050" name="Picture 2" descr="ER2drawio"/>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91926" y="1197735"/>
            <a:ext cx="7943747" cy="53748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334203676"/>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177635" y="333709"/>
            <a:ext cx="4170501" cy="707886"/>
          </a:xfrm>
          <a:prstGeom prst="rect">
            <a:avLst/>
          </a:prstGeom>
        </p:spPr>
        <p:txBody>
          <a:bodyPr wrap="none">
            <a:spAutoFit/>
          </a:bodyPr>
          <a:lstStyle/>
          <a:p>
            <a:r>
              <a:rPr lang="en-US" sz="4000" b="1" dirty="0" smtClean="0"/>
              <a:t>Use Case Diagram</a:t>
            </a:r>
            <a:endParaRPr lang="en-IN" sz="4000" b="1" dirty="0"/>
          </a:p>
        </p:txBody>
      </p:sp>
      <p:pic>
        <p:nvPicPr>
          <p:cNvPr id="3074" name="Picture 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62130" y="1041595"/>
            <a:ext cx="9878096" cy="56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447519128"/>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956484" y="282193"/>
            <a:ext cx="3329758" cy="707886"/>
          </a:xfrm>
          <a:prstGeom prst="rect">
            <a:avLst/>
          </a:prstGeom>
        </p:spPr>
        <p:txBody>
          <a:bodyPr wrap="none">
            <a:spAutoFit/>
          </a:bodyPr>
          <a:lstStyle/>
          <a:p>
            <a:r>
              <a:rPr lang="en-US" sz="4000" b="1" dirty="0" smtClean="0"/>
              <a:t>Class Diagram</a:t>
            </a:r>
            <a:endParaRPr lang="en-IN" sz="4000" b="1" dirty="0"/>
          </a:p>
        </p:txBody>
      </p:sp>
      <p:pic>
        <p:nvPicPr>
          <p:cNvPr id="4098" name="Picture 2" descr="class2Diagra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16676" y="1152525"/>
            <a:ext cx="10174310" cy="5705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837932852"/>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964580" y="359467"/>
            <a:ext cx="4357283" cy="707886"/>
          </a:xfrm>
          <a:prstGeom prst="rect">
            <a:avLst/>
          </a:prstGeom>
        </p:spPr>
        <p:txBody>
          <a:bodyPr wrap="none">
            <a:spAutoFit/>
          </a:bodyPr>
          <a:lstStyle/>
          <a:p>
            <a:r>
              <a:rPr lang="en-US" sz="4000" b="1" dirty="0" smtClean="0"/>
              <a:t>Sequence Diagram</a:t>
            </a:r>
            <a:endParaRPr lang="en-IN" sz="4000" b="1" dirty="0"/>
          </a:p>
        </p:txBody>
      </p:sp>
      <p:pic>
        <p:nvPicPr>
          <p:cNvPr id="5122" name="Picture 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8946" y="1504950"/>
            <a:ext cx="10676586" cy="5353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067317870"/>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828800" y="1661375"/>
            <a:ext cx="7250806" cy="4247317"/>
          </a:xfrm>
          <a:prstGeom prst="rect">
            <a:avLst/>
          </a:prstGeom>
          <a:noFill/>
        </p:spPr>
        <p:txBody>
          <a:bodyPr wrap="square" rtlCol="0">
            <a:spAutoFit/>
          </a:bodyPr>
          <a:lstStyle/>
          <a:p>
            <a:pPr marL="342900" indent="-342900">
              <a:buFont typeface="Wingdings" pitchFamily="2" charset="2"/>
              <a:buChar char="q"/>
            </a:pPr>
            <a:r>
              <a:rPr lang="en-IN" b="1" dirty="0"/>
              <a:t>Hardware Requirements</a:t>
            </a:r>
          </a:p>
          <a:p>
            <a:r>
              <a:rPr lang="en-IN" dirty="0"/>
              <a:t>          Processor: Intel i3 or above</a:t>
            </a:r>
          </a:p>
          <a:p>
            <a:r>
              <a:rPr lang="en-IN" dirty="0"/>
              <a:t>          RAM: Minimum 4 GB</a:t>
            </a:r>
          </a:p>
          <a:p>
            <a:r>
              <a:rPr lang="en-IN" dirty="0"/>
              <a:t>          Storage: 100GB HDD or SSD</a:t>
            </a:r>
          </a:p>
          <a:p>
            <a:endParaRPr lang="en-IN" dirty="0"/>
          </a:p>
          <a:p>
            <a:pPr marL="342900" indent="-342900">
              <a:buFont typeface="Wingdings" pitchFamily="2" charset="2"/>
              <a:buChar char="q"/>
            </a:pPr>
            <a:r>
              <a:rPr lang="en-IN" b="1" dirty="0"/>
              <a:t>Software Requirements</a:t>
            </a:r>
          </a:p>
          <a:p>
            <a:r>
              <a:rPr lang="en-IN" b="1" dirty="0"/>
              <a:t>          </a:t>
            </a:r>
            <a:r>
              <a:rPr lang="en-IN" dirty="0"/>
              <a:t>Operating System: </a:t>
            </a:r>
            <a:r>
              <a:rPr lang="en-IN" dirty="0" smtClean="0"/>
              <a:t>Any Operating System(Windows ,</a:t>
            </a:r>
            <a:r>
              <a:rPr lang="en-IN" dirty="0" err="1" smtClean="0"/>
              <a:t>Linux,MacOs</a:t>
            </a:r>
            <a:r>
              <a:rPr lang="en-IN" dirty="0" smtClean="0"/>
              <a:t>)</a:t>
            </a:r>
            <a:endParaRPr lang="en-IN" dirty="0"/>
          </a:p>
          <a:p>
            <a:r>
              <a:rPr lang="en-IN" sz="1600" dirty="0"/>
              <a:t>             </a:t>
            </a:r>
            <a:r>
              <a:rPr lang="en-IN" dirty="0"/>
              <a:t>Frontend: HTML, </a:t>
            </a:r>
            <a:r>
              <a:rPr lang="en-IN" dirty="0" smtClean="0"/>
              <a:t>CSS(</a:t>
            </a:r>
            <a:r>
              <a:rPr lang="en-IN" dirty="0" err="1" smtClean="0"/>
              <a:t>TalwindCSS</a:t>
            </a:r>
            <a:r>
              <a:rPr lang="en-IN" dirty="0" smtClean="0"/>
              <a:t>), </a:t>
            </a:r>
            <a:r>
              <a:rPr lang="en-IN" dirty="0" err="1"/>
              <a:t>Javascript</a:t>
            </a:r>
            <a:r>
              <a:rPr lang="en-IN" dirty="0"/>
              <a:t>,  React.js</a:t>
            </a:r>
          </a:p>
          <a:p>
            <a:r>
              <a:rPr lang="en-IN" dirty="0"/>
              <a:t>           Backend: ASP.NET </a:t>
            </a:r>
            <a:r>
              <a:rPr lang="en-IN" dirty="0" smtClean="0"/>
              <a:t>Core 8.0 Web App</a:t>
            </a:r>
            <a:endParaRPr lang="en-IN" dirty="0"/>
          </a:p>
          <a:p>
            <a:r>
              <a:rPr lang="en-IN" dirty="0"/>
              <a:t>           Database: </a:t>
            </a:r>
            <a:r>
              <a:rPr lang="en-IN" dirty="0" smtClean="0"/>
              <a:t>MYSQL</a:t>
            </a:r>
          </a:p>
          <a:p>
            <a:r>
              <a:rPr lang="en-US" dirty="0" smtClean="0"/>
              <a:t>           Browser :Google Chrome / Mozilla </a:t>
            </a:r>
            <a:r>
              <a:rPr lang="en-US" dirty="0" err="1" smtClean="0"/>
              <a:t>FireFox</a:t>
            </a:r>
            <a:r>
              <a:rPr lang="en-US" dirty="0" smtClean="0"/>
              <a:t> / Microsoft Edge</a:t>
            </a:r>
            <a:endParaRPr lang="en-IN" dirty="0"/>
          </a:p>
          <a:p>
            <a:r>
              <a:rPr lang="en-IN" dirty="0"/>
              <a:t>           Server: </a:t>
            </a:r>
            <a:r>
              <a:rPr lang="en-IN" dirty="0" smtClean="0"/>
              <a:t>http</a:t>
            </a:r>
            <a:endParaRPr lang="en-IN" dirty="0"/>
          </a:p>
          <a:p>
            <a:r>
              <a:rPr lang="en-IN" dirty="0"/>
              <a:t>           IDE: Visual Studio, VS </a:t>
            </a:r>
            <a:r>
              <a:rPr lang="en-IN" dirty="0" smtClean="0"/>
              <a:t>Code</a:t>
            </a:r>
          </a:p>
          <a:p>
            <a:endParaRPr lang="en-IN" dirty="0"/>
          </a:p>
          <a:p>
            <a:endParaRPr lang="en-IN" dirty="0"/>
          </a:p>
        </p:txBody>
      </p:sp>
      <p:sp>
        <p:nvSpPr>
          <p:cNvPr id="3" name="Rectangle 2"/>
          <p:cNvSpPr/>
          <p:nvPr/>
        </p:nvSpPr>
        <p:spPr>
          <a:xfrm>
            <a:off x="1590057" y="436739"/>
            <a:ext cx="8290668" cy="707886"/>
          </a:xfrm>
          <a:prstGeom prst="rect">
            <a:avLst/>
          </a:prstGeom>
        </p:spPr>
        <p:txBody>
          <a:bodyPr wrap="none">
            <a:spAutoFit/>
          </a:bodyPr>
          <a:lstStyle/>
          <a:p>
            <a:pPr algn="ctr"/>
            <a:r>
              <a:rPr lang="en-IN" sz="4000" b="1" dirty="0"/>
              <a:t>Software</a:t>
            </a:r>
            <a:r>
              <a:rPr lang="en-IN" dirty="0"/>
              <a:t> </a:t>
            </a:r>
            <a:r>
              <a:rPr lang="en-IN" sz="4000" b="1" dirty="0"/>
              <a:t>Requirements</a:t>
            </a:r>
            <a:r>
              <a:rPr lang="en-IN" dirty="0"/>
              <a:t> </a:t>
            </a:r>
            <a:r>
              <a:rPr lang="en-IN" sz="4000" b="1" dirty="0"/>
              <a:t>Specification</a:t>
            </a:r>
          </a:p>
        </p:txBody>
      </p:sp>
    </p:spTree>
    <p:extLst>
      <p:ext uri="{BB962C8B-B14F-4D97-AF65-F5344CB8AC3E}">
        <p14:creationId xmlns:p14="http://schemas.microsoft.com/office/powerpoint/2010/main" val="2497168187"/>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Conclusion</a:t>
            </a:r>
            <a:endParaRPr lang="en-IN" dirty="0"/>
          </a:p>
        </p:txBody>
      </p:sp>
      <p:sp>
        <p:nvSpPr>
          <p:cNvPr id="3" name="Content Placeholder 2"/>
          <p:cNvSpPr>
            <a:spLocks noGrp="1"/>
          </p:cNvSpPr>
          <p:nvPr>
            <p:ph idx="1"/>
          </p:nvPr>
        </p:nvSpPr>
        <p:spPr/>
        <p:txBody>
          <a:bodyPr>
            <a:noAutofit/>
          </a:bodyPr>
          <a:lstStyle/>
          <a:p>
            <a:r>
              <a:rPr lang="en-US" sz="2000" dirty="0">
                <a:latin typeface="Times New Roman" panose="02020603050405020304" pitchFamily="18" charset="0"/>
                <a:cs typeface="Times New Roman" panose="02020603050405020304" pitchFamily="18" charset="0"/>
              </a:rPr>
              <a:t>The </a:t>
            </a:r>
            <a:r>
              <a:rPr lang="en-US" sz="2000" b="1" dirty="0">
                <a:latin typeface="Times New Roman" panose="02020603050405020304" pitchFamily="18" charset="0"/>
                <a:cs typeface="Times New Roman" panose="02020603050405020304" pitchFamily="18" charset="0"/>
              </a:rPr>
              <a:t>Digital Health Card System</a:t>
            </a:r>
            <a:r>
              <a:rPr lang="en-US" sz="2000" dirty="0">
                <a:latin typeface="Times New Roman" panose="02020603050405020304" pitchFamily="18" charset="0"/>
                <a:cs typeface="Times New Roman" panose="02020603050405020304" pitchFamily="18" charset="0"/>
              </a:rPr>
              <a:t> successfully provides a secure and efficient platform for managing patient medical records digitally. By eliminating the need for physical reports and introducing </a:t>
            </a:r>
            <a:r>
              <a:rPr lang="en-US" sz="2000" dirty="0" err="1">
                <a:latin typeface="Times New Roman" panose="02020603050405020304" pitchFamily="18" charset="0"/>
                <a:cs typeface="Times New Roman" panose="02020603050405020304" pitchFamily="18" charset="0"/>
              </a:rPr>
              <a:t>Aadhaar</a:t>
            </a:r>
            <a:r>
              <a:rPr lang="en-US" sz="2000" dirty="0">
                <a:latin typeface="Times New Roman" panose="02020603050405020304" pitchFamily="18" charset="0"/>
                <a:cs typeface="Times New Roman" panose="02020603050405020304" pitchFamily="18" charset="0"/>
              </a:rPr>
              <a:t>-based authentication, the system ensures easy access and improved reliability of medical data. Role-based access control and admin verification enhance system security, while digital report uploads by doctors and lab technicians ensure accurate and up-to-date medical information. The emergency access feature further strengthens the system by enabling timely treatment during critical situations. Overall, the system contributes to a more organized, accessible, and patient-centric healthcare management approach and has the potential for future expansion with advanced technologies and real-world integrations.</a:t>
            </a:r>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30818025"/>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Future Scope</a:t>
            </a:r>
            <a:endParaRPr lang="en-IN" dirty="0"/>
          </a:p>
        </p:txBody>
      </p:sp>
      <p:sp>
        <p:nvSpPr>
          <p:cNvPr id="5" name="Rectangle 2"/>
          <p:cNvSpPr>
            <a:spLocks noGrp="1" noChangeArrowheads="1"/>
          </p:cNvSpPr>
          <p:nvPr>
            <p:ph idx="1"/>
          </p:nvPr>
        </p:nvSpPr>
        <p:spPr bwMode="auto">
          <a:xfrm>
            <a:off x="1484310" y="2951827"/>
            <a:ext cx="6375143"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Integration with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real </a:t>
            </a:r>
            <a:r>
              <a:rPr kumimoji="0" lang="en-US" sz="20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APIs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for </a:t>
            </a:r>
            <a:r>
              <a:rPr kumimoji="0" lang="en-US" sz="2000" b="0" i="0" u="none" strike="noStrike" cap="none" normalizeH="0" baseline="0" smtClean="0">
                <a:ln>
                  <a:noFill/>
                </a:ln>
                <a:solidFill>
                  <a:schemeClr val="tx1"/>
                </a:solidFill>
                <a:effectLst/>
                <a:latin typeface="Times New Roman" panose="02020603050405020304" pitchFamily="18" charset="0"/>
                <a:cs typeface="Times New Roman" panose="02020603050405020304" pitchFamily="18" charset="0"/>
              </a:rPr>
              <a:t>live verification</a:t>
            </a:r>
            <a:endPar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Mobile application version of the system</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Biometric authentication for enhanced security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AI-based health analysis and report predictions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Integration with hospitals and pharmacies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Blockchain</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-based storage for tamper-proof medical records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Appointment scheduling and notification system</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Multi-language support for wider accessibility</a:t>
            </a:r>
          </a:p>
        </p:txBody>
      </p:sp>
    </p:spTree>
    <p:extLst>
      <p:ext uri="{BB962C8B-B14F-4D97-AF65-F5344CB8AC3E}">
        <p14:creationId xmlns:p14="http://schemas.microsoft.com/office/powerpoint/2010/main" val="3980805660"/>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713119" y="2870846"/>
            <a:ext cx="2800447" cy="830997"/>
          </a:xfrm>
          <a:prstGeom prst="rect">
            <a:avLst/>
          </a:prstGeom>
        </p:spPr>
        <p:txBody>
          <a:bodyPr wrap="none">
            <a:spAutoFit/>
          </a:bodyPr>
          <a:lstStyle/>
          <a:p>
            <a:r>
              <a:rPr lang="en-IN" sz="4800" dirty="0">
                <a:solidFill>
                  <a:schemeClr val="tx2">
                    <a:lumMod val="75000"/>
                  </a:schemeClr>
                </a:solidFill>
              </a:rPr>
              <a:t>Thank You</a:t>
            </a:r>
          </a:p>
        </p:txBody>
      </p:sp>
    </p:spTree>
    <p:extLst>
      <p:ext uri="{BB962C8B-B14F-4D97-AF65-F5344CB8AC3E}">
        <p14:creationId xmlns:p14="http://schemas.microsoft.com/office/powerpoint/2010/main" val="63954920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Parallax">
  <a:themeElements>
    <a:clrScheme name="Parallax">
      <a:dk1>
        <a:sysClr val="windowText" lastClr="000000"/>
      </a:dk1>
      <a:lt1>
        <a:sysClr val="window" lastClr="FFFFFF"/>
      </a:lt1>
      <a:dk2>
        <a:srgbClr val="212121"/>
      </a:dk2>
      <a:lt2>
        <a:srgbClr val="CDD0D1"/>
      </a:lt2>
      <a:accent1>
        <a:srgbClr val="30ACEC"/>
      </a:accent1>
      <a:accent2>
        <a:srgbClr val="80C34F"/>
      </a:accent2>
      <a:accent3>
        <a:srgbClr val="E29D3E"/>
      </a:accent3>
      <a:accent4>
        <a:srgbClr val="D64A3B"/>
      </a:accent4>
      <a:accent5>
        <a:srgbClr val="D64787"/>
      </a:accent5>
      <a:accent6>
        <a:srgbClr val="A666E1"/>
      </a:accent6>
      <a:hlink>
        <a:srgbClr val="3085ED"/>
      </a:hlink>
      <a:folHlink>
        <a:srgbClr val="82B6F4"/>
      </a:folHlink>
    </a:clrScheme>
    <a:fontScheme name="Parallax">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arallax">
      <a:fillStyleLst>
        <a:solidFill>
          <a:schemeClr val="phClr"/>
        </a:solidFill>
        <a:gradFill rotWithShape="1">
          <a:gsLst>
            <a:gs pos="0">
              <a:schemeClr val="phClr">
                <a:tint val="60000"/>
                <a:lumMod val="104000"/>
              </a:schemeClr>
            </a:gs>
            <a:gs pos="100000">
              <a:schemeClr val="phClr">
                <a:tint val="84000"/>
              </a:schemeClr>
            </a:gs>
          </a:gsLst>
          <a:lin ang="5400000" scaled="0"/>
        </a:gradFill>
        <a:gradFill rotWithShape="1">
          <a:gsLst>
            <a:gs pos="0">
              <a:schemeClr val="phClr">
                <a:tint val="96000"/>
                <a:lumMod val="102000"/>
              </a:schemeClr>
            </a:gs>
            <a:gs pos="100000">
              <a:schemeClr val="phClr">
                <a:shade val="88000"/>
                <a:lumMod val="94000"/>
              </a:schemeClr>
            </a:gs>
          </a:gsLst>
          <a:path path="circle">
            <a:fillToRect l="50000" t="100000" r="100000" b="50000"/>
          </a:path>
        </a:gradFill>
      </a:fillStyleLst>
      <a:lnStyleLst>
        <a:ln w="9525" cap="rnd" cmpd="sng" algn="ctr">
          <a:solidFill>
            <a:schemeClr val="phClr">
              <a:tint val="6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reflection blurRad="12700" stA="26000" endPos="32000" dist="12700" dir="5400000" sy="-100000" rotWithShape="0"/>
          </a:effectLst>
        </a:effectStyle>
        <a:effectStyle>
          <a:effectLst>
            <a:outerShdw blurRad="38100" dist="25400" dir="5400000" rotWithShape="0">
              <a:srgbClr val="000000">
                <a:alpha val="64000"/>
              </a:srgbClr>
            </a:outerShdw>
          </a:effectLst>
          <a:scene3d>
            <a:camera prst="orthographicFront">
              <a:rot lat="0" lon="0" rev="0"/>
            </a:camera>
            <a:lightRig rig="threePt" dir="tl">
              <a:rot lat="0" lon="0" rev="1200000"/>
            </a:lightRig>
          </a:scene3d>
          <a:sp3d>
            <a:bevelT w="25400" h="12700"/>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76000"/>
                <a:satMod val="180000"/>
              </a:schemeClr>
              <a:schemeClr val="phClr">
                <a:tint val="80000"/>
                <a:satMod val="120000"/>
                <a:lumMod val="180000"/>
              </a:schemeClr>
            </a:duotone>
          </a:blip>
          <a:stretch/>
        </a:blipFill>
      </a:bgFillStyleLst>
    </a:fmtScheme>
  </a:themeElements>
  <a:objectDefaults/>
  <a:extraClrSchemeLst/>
  <a:extLst>
    <a:ext uri="{05A4C25C-085E-4340-85A3-A5531E510DB2}">
      <thm15:themeFamily xmlns:thm15="http://schemas.microsoft.com/office/thememl/2012/main" name="Parallax" id="{3388167B-A2EB-4685-9635-1831D9AEF8C4}" vid="{4F7A876A-7598-49CA-AFC8-8EDA2551E4A7}"/>
    </a:ext>
  </a:extLst>
</a:theme>
</file>

<file path=docProps/app.xml><?xml version="1.0" encoding="utf-8"?>
<Properties xmlns="http://schemas.openxmlformats.org/officeDocument/2006/extended-properties" xmlns:vt="http://schemas.openxmlformats.org/officeDocument/2006/docPropsVTypes">
  <Template>TM03457496[[fn=Parallax]]</Template>
  <TotalTime>530</TotalTime>
  <Words>1185</Words>
  <Application>Microsoft Office PowerPoint</Application>
  <PresentationFormat>Widescreen</PresentationFormat>
  <Paragraphs>111</Paragraphs>
  <Slides>24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Arial</vt:lpstr>
      <vt:lpstr>Corbel</vt:lpstr>
      <vt:lpstr>Times New Roman</vt:lpstr>
      <vt:lpstr>Wingdings</vt:lpstr>
      <vt:lpstr>Parallax</vt:lpstr>
      <vt:lpstr>Digital Health Card</vt:lpstr>
      <vt:lpstr>PowerPoint Presentation</vt:lpstr>
      <vt:lpstr>Abstract</vt:lpstr>
      <vt:lpstr>Introduction</vt:lpstr>
      <vt:lpstr>Problem Statement</vt:lpstr>
      <vt:lpstr>Project Overview</vt:lpstr>
      <vt:lpstr>Aim</vt:lpstr>
      <vt:lpstr>Objective</vt:lpstr>
      <vt:lpstr>Scope of the Project</vt:lpstr>
      <vt:lpstr>Limitations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Conclusion</vt:lpstr>
      <vt:lpstr>Future Scope</vt:lpstr>
      <vt:lpstr>PowerPoint Presentation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Health Card</dc:title>
  <dc:creator>DELL</dc:creator>
  <cp:lastModifiedBy>DELL</cp:lastModifiedBy>
  <cp:revision>26</cp:revision>
  <dcterms:created xsi:type="dcterms:W3CDTF">2026-01-29T12:33:17Z</dcterms:created>
  <dcterms:modified xsi:type="dcterms:W3CDTF">2026-01-31T12:44:08Z</dcterms:modified>
</cp:coreProperties>
</file>