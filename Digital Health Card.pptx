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63" r:id="rId3"/>
    <p:sldId id="262" r:id="rId4"/>
    <p:sldId id="257" r:id="rId5"/>
    <p:sldId id="258" r:id="rId6"/>
    <p:sldId id="259" r:id="rId7"/>
    <p:sldId id="260" r:id="rId8"/>
    <p:sldId id="261" r:id="rId9"/>
    <p:sldId id="264" r:id="rId10"/>
    <p:sldId id="265" r:id="rId11"/>
    <p:sldId id="271"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4942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04447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271134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20C8855-6882-4AD7-B13D-6553AEF0D6D0}"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637385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20C8855-6882-4AD7-B13D-6553AEF0D6D0}" type="datetimeFigureOut">
              <a:rPr lang="en-IN" smtClean="0"/>
              <a:t>30-01-2026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25746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20C8855-6882-4AD7-B13D-6553AEF0D6D0}" type="datetimeFigureOut">
              <a:rPr lang="en-IN" smtClean="0"/>
              <a:t>30-01-2026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81089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C8855-6882-4AD7-B13D-6553AEF0D6D0}" type="datetimeFigureOut">
              <a:rPr lang="en-IN" smtClean="0"/>
              <a:t>30-01-2026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18806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0295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6867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C8855-6882-4AD7-B13D-6553AEF0D6D0}"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101121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5134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1795832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25552232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4110546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916062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683383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0C8855-6882-4AD7-B13D-6553AEF0D6D0}"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519B6F-648A-4B8E-866A-FCA2E70D5839}" type="slidenum">
              <a:rPr lang="en-IN" smtClean="0"/>
              <a:t>‹#›</a:t>
            </a:fld>
            <a:endParaRPr lang="en-IN"/>
          </a:p>
        </p:txBody>
      </p:sp>
    </p:spTree>
    <p:extLst>
      <p:ext uri="{BB962C8B-B14F-4D97-AF65-F5344CB8AC3E}">
        <p14:creationId xmlns:p14="http://schemas.microsoft.com/office/powerpoint/2010/main" val="356853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0C8855-6882-4AD7-B13D-6553AEF0D6D0}" type="datetimeFigureOut">
              <a:rPr lang="en-IN" smtClean="0"/>
              <a:t>30-01-2026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519B6F-648A-4B8E-866A-FCA2E70D5839}" type="slidenum">
              <a:rPr lang="en-IN" smtClean="0"/>
              <a:t>‹#›</a:t>
            </a:fld>
            <a:endParaRPr lang="en-IN"/>
          </a:p>
        </p:txBody>
      </p:sp>
    </p:spTree>
    <p:extLst>
      <p:ext uri="{BB962C8B-B14F-4D97-AF65-F5344CB8AC3E}">
        <p14:creationId xmlns:p14="http://schemas.microsoft.com/office/powerpoint/2010/main" val="312108845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56199" y="2266681"/>
            <a:ext cx="6118677" cy="895512"/>
          </a:xfrm>
        </p:spPr>
        <p:txBody>
          <a:bodyPr>
            <a:normAutofit fontScale="90000"/>
          </a:bodyPr>
          <a:lstStyle/>
          <a:p>
            <a:r>
              <a:rPr lang="en-US" dirty="0" smtClean="0">
                <a:solidFill>
                  <a:schemeClr val="accent1">
                    <a:lumMod val="75000"/>
                  </a:schemeClr>
                </a:solidFill>
              </a:rPr>
              <a:t>Digital Health Card</a:t>
            </a:r>
            <a:endParaRPr lang="en-IN" dirty="0">
              <a:solidFill>
                <a:schemeClr val="accent1">
                  <a:lumMod val="75000"/>
                </a:schemeClr>
              </a:solidFill>
            </a:endParaRPr>
          </a:p>
        </p:txBody>
      </p:sp>
      <p:sp>
        <p:nvSpPr>
          <p:cNvPr id="3" name="Subtitle 2"/>
          <p:cNvSpPr>
            <a:spLocks noGrp="1"/>
          </p:cNvSpPr>
          <p:nvPr>
            <p:ph type="subTitle" idx="1"/>
          </p:nvPr>
        </p:nvSpPr>
        <p:spPr>
          <a:xfrm>
            <a:off x="5204355" y="4910668"/>
            <a:ext cx="6987645" cy="1388534"/>
          </a:xfrm>
        </p:spPr>
        <p:txBody>
          <a:bodyPr>
            <a:noAutofit/>
          </a:bodyPr>
          <a:lstStyle/>
          <a:p>
            <a:r>
              <a:rPr lang="en-IN" sz="1800" b="1" dirty="0" err="1"/>
              <a:t>Chandrakant</a:t>
            </a:r>
            <a:r>
              <a:rPr lang="en-IN" sz="1800" b="1" dirty="0"/>
              <a:t> </a:t>
            </a:r>
            <a:r>
              <a:rPr lang="en-IN" sz="1800" b="1" dirty="0" err="1"/>
              <a:t>Palandurkar</a:t>
            </a:r>
            <a:r>
              <a:rPr lang="en-IN" sz="1800" b="1" dirty="0"/>
              <a:t> (PRN: </a:t>
            </a:r>
            <a:r>
              <a:rPr lang="en-IN" sz="1800" b="1" dirty="0" smtClean="0"/>
              <a:t>250845920015)</a:t>
            </a:r>
          </a:p>
          <a:p>
            <a:r>
              <a:rPr lang="en-IN" sz="1800" b="1" dirty="0" smtClean="0"/>
              <a:t>    </a:t>
            </a:r>
            <a:r>
              <a:rPr lang="en-IN" sz="1800" b="1" dirty="0" err="1" smtClean="0"/>
              <a:t>Kedar</a:t>
            </a:r>
            <a:r>
              <a:rPr lang="en-IN" sz="1800" b="1" dirty="0" smtClean="0"/>
              <a:t> </a:t>
            </a:r>
            <a:r>
              <a:rPr lang="en-IN" sz="1800" b="1" dirty="0"/>
              <a:t>Mane (PRN: 250845920032</a:t>
            </a:r>
            <a:r>
              <a:rPr lang="en-IN" sz="1800" b="1" dirty="0" smtClean="0"/>
              <a:t>)</a:t>
            </a:r>
          </a:p>
          <a:p>
            <a:r>
              <a:rPr lang="en-IN" sz="1800" b="1" dirty="0" err="1" smtClean="0"/>
              <a:t>Poonam</a:t>
            </a:r>
            <a:r>
              <a:rPr lang="en-IN" sz="1800" b="1" dirty="0" smtClean="0"/>
              <a:t> </a:t>
            </a:r>
            <a:r>
              <a:rPr lang="en-IN" sz="1800" b="1" dirty="0"/>
              <a:t>Agrawal (PRN: 250845920050</a:t>
            </a:r>
            <a:r>
              <a:rPr lang="en-IN" sz="1800" b="1" dirty="0" smtClean="0"/>
              <a:t>)</a:t>
            </a:r>
          </a:p>
          <a:p>
            <a:r>
              <a:rPr lang="en-IN" sz="1800" b="1" dirty="0" smtClean="0"/>
              <a:t>Puja </a:t>
            </a:r>
            <a:r>
              <a:rPr lang="en-IN" sz="1800" b="1" dirty="0" err="1"/>
              <a:t>Ulhas</a:t>
            </a:r>
            <a:r>
              <a:rPr lang="en-IN" sz="1800" b="1" dirty="0"/>
              <a:t> </a:t>
            </a:r>
            <a:r>
              <a:rPr lang="en-IN" sz="1800" b="1" dirty="0" err="1"/>
              <a:t>Wagh</a:t>
            </a:r>
            <a:r>
              <a:rPr lang="en-IN" sz="1800" b="1" dirty="0"/>
              <a:t> (PRN: 250845920063</a:t>
            </a:r>
            <a:r>
              <a:rPr lang="en-IN" sz="1800" b="1" dirty="0" smtClean="0"/>
              <a:t>)</a:t>
            </a:r>
          </a:p>
          <a:p>
            <a:r>
              <a:rPr lang="en-IN" sz="1800" b="1" dirty="0" err="1" smtClean="0"/>
              <a:t>Waghmode</a:t>
            </a:r>
            <a:r>
              <a:rPr lang="en-IN" sz="1800" b="1" dirty="0" smtClean="0"/>
              <a:t> </a:t>
            </a:r>
            <a:r>
              <a:rPr lang="en-IN" sz="1800" b="1" dirty="0" err="1"/>
              <a:t>Vaibhavi</a:t>
            </a:r>
            <a:r>
              <a:rPr lang="en-IN" sz="1800" b="1" dirty="0"/>
              <a:t> (PRN: 250245920095</a:t>
            </a:r>
          </a:p>
        </p:txBody>
      </p:sp>
      <p:pic>
        <p:nvPicPr>
          <p:cNvPr id="4098" name="Picture 2" descr="CDAC IET | Pu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8177" y="58942"/>
            <a:ext cx="3429000" cy="1333501"/>
          </a:xfrm>
          <a:prstGeom prst="rect">
            <a:avLst/>
          </a:prstGeom>
          <a:noFill/>
          <a:ln>
            <a:solidFill>
              <a:schemeClr val="accent2">
                <a:lumMod val="20000"/>
                <a:lumOff val="80000"/>
              </a:schemeClr>
            </a:solidFill>
          </a:ln>
        </p:spPr>
      </p:pic>
    </p:spTree>
    <p:extLst>
      <p:ext uri="{BB962C8B-B14F-4D97-AF65-F5344CB8AC3E}">
        <p14:creationId xmlns:p14="http://schemas.microsoft.com/office/powerpoint/2010/main" val="8768246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IN" dirty="0"/>
          </a:p>
        </p:txBody>
      </p:sp>
      <p:sp>
        <p:nvSpPr>
          <p:cNvPr id="3" name="Content Placeholder 2"/>
          <p:cNvSpPr>
            <a:spLocks noGrp="1"/>
          </p:cNvSpPr>
          <p:nvPr>
            <p:ph idx="1"/>
          </p:nvPr>
        </p:nvSpPr>
        <p:spPr/>
        <p:txBody>
          <a:bodyPr>
            <a:normAutofit/>
          </a:bodyPr>
          <a:lstStyle/>
          <a:p>
            <a:r>
              <a:rPr lang="en-US" dirty="0"/>
              <a:t>The Digital Health Card System is a secure healthcare management platform that allows patients to access and manage their medical records digitally. The system eliminates the need for carrying physical medical reports by providing centralized, role-based access to patient health data. It involves five main entities: Admin, Patient, Doctor, Lab Technician, and Nominee. </a:t>
            </a:r>
            <a:r>
              <a:rPr lang="en-US" dirty="0" err="1"/>
              <a:t>Aadhaar</a:t>
            </a:r>
            <a:r>
              <a:rPr lang="en-US" dirty="0"/>
              <a:t>-based authentication, admin verification, and patient consent ensure data security, privacy, and controlled access to sensitive medical information.</a:t>
            </a:r>
            <a:endParaRPr lang="en-IN" dirty="0"/>
          </a:p>
        </p:txBody>
      </p:sp>
    </p:spTree>
    <p:extLst>
      <p:ext uri="{BB962C8B-B14F-4D97-AF65-F5344CB8AC3E}">
        <p14:creationId xmlns:p14="http://schemas.microsoft.com/office/powerpoint/2010/main" val="4009981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fontScale="70000" lnSpcReduction="20000"/>
          </a:bodyPr>
          <a:lstStyle/>
          <a:p>
            <a:r>
              <a:rPr lang="en-US" dirty="0"/>
              <a:t>In today’s fast-paced healthcare environment, managing medical records in physical form has become inefficient and unreliable. Patients often misplace reports or forget to carry them during consultations, leading to delays in diagnosis and treatment. Moreover, sharing medical data among healthcare providers remains a challenge due to the lack of a centralized and secure platform.</a:t>
            </a:r>
          </a:p>
          <a:p>
            <a:r>
              <a:rPr lang="en-US" dirty="0"/>
              <a:t>The </a:t>
            </a:r>
            <a:r>
              <a:rPr lang="en-US" b="1" dirty="0"/>
              <a:t>Digital Health Card System</a:t>
            </a:r>
            <a:r>
              <a:rPr lang="en-US" dirty="0"/>
              <a:t> addresses these challenges by providing a secure digital solution for storing and accessing patient medical records. The system uses </a:t>
            </a:r>
            <a:r>
              <a:rPr lang="en-US" dirty="0" err="1"/>
              <a:t>Aadhaar</a:t>
            </a:r>
            <a:r>
              <a:rPr lang="en-US" dirty="0"/>
              <a:t>-based authentication to uniquely identify patients and generates a Health Card ID that acts as a digital identity for accessing medical data. With role-based access control, the system ensures that only authorized users such as doctors and lab technicians can upload or modify patient data after admin verification. Additionally, the nominee-based emergency access mechanism allows doctors to access patient medical history during critical situations. This system aims to improve healthcare efficiency, data accessibility, and patient safety.</a:t>
            </a:r>
          </a:p>
          <a:p>
            <a:endParaRPr lang="en-IN" dirty="0"/>
          </a:p>
        </p:txBody>
      </p:sp>
    </p:spTree>
    <p:extLst>
      <p:ext uri="{BB962C8B-B14F-4D97-AF65-F5344CB8AC3E}">
        <p14:creationId xmlns:p14="http://schemas.microsoft.com/office/powerpoint/2010/main" val="14769824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normAutofit fontScale="92500"/>
          </a:bodyPr>
          <a:lstStyle/>
          <a:p>
            <a:r>
              <a:rPr lang="en-US" dirty="0"/>
              <a:t>In the existing healthcare system, patients are required to carry physical medical reports during hospital visits or emergencies. These reports can be misplaced, damaged, or unavailable when urgently needed. There is no centralized, secure, and easily accessible digital platform that allows patients, doctors, and laboratories to manage medical records efficiently. Additionally, unauthorized access to sensitive health data and lack of patient consent mechanisms create privacy and security concerns. Hence, there is a need for a secure digital system that enables electronic storage, controlled access, and easy retrieval of medical records using reliable authentication methods.</a:t>
            </a:r>
            <a:endParaRPr lang="en-IN" dirty="0"/>
          </a:p>
        </p:txBody>
      </p:sp>
    </p:spTree>
    <p:extLst>
      <p:ext uri="{BB962C8B-B14F-4D97-AF65-F5344CB8AC3E}">
        <p14:creationId xmlns:p14="http://schemas.microsoft.com/office/powerpoint/2010/main" val="3751756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a:t>
            </a:r>
            <a:endParaRPr lang="en-IN" dirty="0"/>
          </a:p>
        </p:txBody>
      </p:sp>
      <p:sp>
        <p:nvSpPr>
          <p:cNvPr id="3" name="Content Placeholder 2"/>
          <p:cNvSpPr>
            <a:spLocks noGrp="1"/>
          </p:cNvSpPr>
          <p:nvPr>
            <p:ph idx="1"/>
          </p:nvPr>
        </p:nvSpPr>
        <p:spPr/>
        <p:txBody>
          <a:bodyPr/>
          <a:lstStyle/>
          <a:p>
            <a:r>
              <a:rPr lang="en-US" dirty="0" smtClean="0"/>
              <a:t>The </a:t>
            </a:r>
            <a:r>
              <a:rPr lang="en-US" dirty="0"/>
              <a:t>aim of the </a:t>
            </a:r>
            <a:r>
              <a:rPr lang="en-US" b="1" dirty="0"/>
              <a:t>Digital Health Card System</a:t>
            </a:r>
            <a:r>
              <a:rPr lang="en-US" dirty="0"/>
              <a:t> is to provide a secure, centralized, and digital platform for managing patient medical records, enabling easy access to health information for patients, doctors, and lab technicians while eliminating the need for carrying physical medical reports</a:t>
            </a:r>
            <a:endParaRPr lang="en-IN" dirty="0"/>
          </a:p>
        </p:txBody>
      </p:sp>
    </p:spTree>
    <p:extLst>
      <p:ext uri="{BB962C8B-B14F-4D97-AF65-F5344CB8AC3E}">
        <p14:creationId xmlns:p14="http://schemas.microsoft.com/office/powerpoint/2010/main" val="25452172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IN" dirty="0"/>
          </a:p>
        </p:txBody>
      </p:sp>
      <p:sp>
        <p:nvSpPr>
          <p:cNvPr id="5" name="Rectangle 3"/>
          <p:cNvSpPr>
            <a:spLocks noGrp="1" noChangeArrowheads="1"/>
          </p:cNvSpPr>
          <p:nvPr>
            <p:ph idx="1"/>
          </p:nvPr>
        </p:nvSpPr>
        <p:spPr bwMode="auto">
          <a:xfrm>
            <a:off x="1484312" y="2659440"/>
            <a:ext cx="943697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develop a </a:t>
            </a:r>
            <a:r>
              <a:rPr kumimoji="0" lang="en-US" sz="1800" b="1" i="0" u="none" strike="noStrike" cap="none" normalizeH="0" baseline="0" dirty="0" smtClean="0">
                <a:ln>
                  <a:noFill/>
                </a:ln>
                <a:solidFill>
                  <a:schemeClr val="tx1"/>
                </a:solidFill>
                <a:effectLst/>
                <a:latin typeface="Arial" panose="020B0604020202020204" pitchFamily="34" charset="0"/>
              </a:rPr>
              <a:t>Digital Health Card System</a:t>
            </a:r>
            <a:r>
              <a:rPr kumimoji="0" lang="en-US" sz="1800" b="0" i="0" u="none" strike="noStrike" cap="none" normalizeH="0" baseline="0" dirty="0" smtClean="0">
                <a:ln>
                  <a:noFill/>
                </a:ln>
                <a:solidFill>
                  <a:schemeClr val="tx1"/>
                </a:solidFill>
                <a:effectLst/>
                <a:latin typeface="Arial" panose="020B0604020202020204" pitchFamily="34" charset="0"/>
              </a:rPr>
              <a:t> that allows patients to access medical records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eliminate the need for carrying </a:t>
            </a:r>
            <a:r>
              <a:rPr kumimoji="0" lang="en-US" sz="1800" b="1" i="0" u="none" strike="noStrike" cap="none" normalizeH="0" baseline="0" dirty="0" smtClean="0">
                <a:ln>
                  <a:noFill/>
                </a:ln>
                <a:solidFill>
                  <a:schemeClr val="tx1"/>
                </a:solidFill>
                <a:effectLst/>
                <a:latin typeface="Arial" panose="020B0604020202020204" pitchFamily="34" charset="0"/>
              </a:rPr>
              <a:t>physical medical reports</a:t>
            </a:r>
            <a:r>
              <a:rPr kumimoji="0" 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implement </a:t>
            </a:r>
            <a:r>
              <a:rPr kumimoji="0" lang="en-US" sz="1800" b="1" i="0" u="none" strike="noStrike" cap="none" normalizeH="0" baseline="0" dirty="0" err="1" smtClean="0">
                <a:ln>
                  <a:noFill/>
                </a:ln>
                <a:solidFill>
                  <a:schemeClr val="tx1"/>
                </a:solidFill>
                <a:effectLst/>
                <a:latin typeface="Arial" panose="020B0604020202020204" pitchFamily="34" charset="0"/>
              </a:rPr>
              <a:t>Aadhaar</a:t>
            </a:r>
            <a:r>
              <a:rPr kumimoji="0" lang="en-US" sz="1800" b="1" i="0" u="none" strike="noStrike" cap="none" normalizeH="0" baseline="0" dirty="0" smtClean="0">
                <a:ln>
                  <a:noFill/>
                </a:ln>
                <a:solidFill>
                  <a:schemeClr val="tx1"/>
                </a:solidFill>
                <a:effectLst/>
                <a:latin typeface="Arial" panose="020B0604020202020204" pitchFamily="34" charset="0"/>
              </a:rPr>
              <a:t>-based authentication and OTP verification</a:t>
            </a:r>
            <a:r>
              <a:rPr kumimoji="0" lang="en-US" sz="1800" b="0" i="0" u="none" strike="noStrike" cap="none" normalizeH="0" baseline="0" dirty="0" smtClean="0">
                <a:ln>
                  <a:noFill/>
                </a:ln>
                <a:solidFill>
                  <a:schemeClr val="tx1"/>
                </a:solidFill>
                <a:effectLst/>
                <a:latin typeface="Arial" panose="020B0604020202020204" pitchFamily="34" charset="0"/>
              </a:rPr>
              <a:t> for secure patient registration and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generate a </a:t>
            </a:r>
            <a:r>
              <a:rPr kumimoji="0" lang="en-US" sz="1800" b="1" i="0" u="none" strike="noStrike" cap="none" normalizeH="0" baseline="0" dirty="0" smtClean="0">
                <a:ln>
                  <a:noFill/>
                </a:ln>
                <a:solidFill>
                  <a:schemeClr val="tx1"/>
                </a:solidFill>
                <a:effectLst/>
                <a:latin typeface="Arial" panose="020B0604020202020204" pitchFamily="34" charset="0"/>
              </a:rPr>
              <a:t>unique Health Card ID (HC + </a:t>
            </a:r>
            <a:r>
              <a:rPr kumimoji="0" lang="en-US" sz="1800" b="1" i="0" u="none" strike="noStrike" cap="none" normalizeH="0" baseline="0" dirty="0" err="1" smtClean="0">
                <a:ln>
                  <a:noFill/>
                </a:ln>
                <a:solidFill>
                  <a:schemeClr val="tx1"/>
                </a:solidFill>
                <a:effectLst/>
                <a:latin typeface="Arial" panose="020B0604020202020204" pitchFamily="34" charset="0"/>
              </a:rPr>
              <a:t>Aadhaar</a:t>
            </a:r>
            <a:r>
              <a:rPr kumimoji="0" lang="en-US" sz="1800" b="1" i="0" u="none" strike="noStrike" cap="none" normalizeH="0" baseline="0" dirty="0" smtClean="0">
                <a:ln>
                  <a:noFill/>
                </a:ln>
                <a:solidFill>
                  <a:schemeClr val="tx1"/>
                </a:solidFill>
                <a:effectLst/>
                <a:latin typeface="Arial" panose="020B0604020202020204" pitchFamily="34" charset="0"/>
              </a:rPr>
              <a:t> Number)</a:t>
            </a:r>
            <a:r>
              <a:rPr kumimoji="0" lang="en-US" sz="1800" b="0" i="0" u="none" strike="noStrike" cap="none" normalizeH="0" baseline="0" dirty="0" smtClean="0">
                <a:ln>
                  <a:noFill/>
                </a:ln>
                <a:solidFill>
                  <a:schemeClr val="tx1"/>
                </a:solidFill>
                <a:effectLst/>
                <a:latin typeface="Arial" panose="020B0604020202020204" pitchFamily="34" charset="0"/>
              </a:rPr>
              <a:t> for each patient.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provide </a:t>
            </a:r>
            <a:r>
              <a:rPr kumimoji="0" lang="en-US" sz="1800" b="1" i="0" u="none" strike="noStrike" cap="none" normalizeH="0" baseline="0" dirty="0" smtClean="0">
                <a:ln>
                  <a:noFill/>
                </a:ln>
                <a:solidFill>
                  <a:schemeClr val="tx1"/>
                </a:solidFill>
                <a:effectLst/>
                <a:latin typeface="Arial" panose="020B0604020202020204" pitchFamily="34" charset="0"/>
              </a:rPr>
              <a:t>role-based access</a:t>
            </a:r>
            <a:r>
              <a:rPr kumimoji="0" lang="en-US" sz="1800" b="0" i="0" u="none" strike="noStrike" cap="none" normalizeH="0" baseline="0" dirty="0" smtClean="0">
                <a:ln>
                  <a:noFill/>
                </a:ln>
                <a:solidFill>
                  <a:schemeClr val="tx1"/>
                </a:solidFill>
                <a:effectLst/>
                <a:latin typeface="Arial" panose="020B0604020202020204" pitchFamily="34" charset="0"/>
              </a:rPr>
              <a:t> for Admin, Patient, Doctor, Lab Technician, and Nominee.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ensure </a:t>
            </a:r>
            <a:r>
              <a:rPr kumimoji="0" lang="en-US" sz="1800" b="1" i="0" u="none" strike="noStrike" cap="none" normalizeH="0" baseline="0" dirty="0" smtClean="0">
                <a:ln>
                  <a:noFill/>
                </a:ln>
                <a:solidFill>
                  <a:schemeClr val="tx1"/>
                </a:solidFill>
                <a:effectLst/>
                <a:latin typeface="Arial" panose="020B0604020202020204" pitchFamily="34" charset="0"/>
              </a:rPr>
              <a:t>admin verification</a:t>
            </a:r>
            <a:r>
              <a:rPr kumimoji="0" lang="en-US" sz="1800" b="0" i="0" u="none" strike="noStrike" cap="none" normalizeH="0" baseline="0" dirty="0" smtClean="0">
                <a:ln>
                  <a:noFill/>
                </a:ln>
                <a:solidFill>
                  <a:schemeClr val="tx1"/>
                </a:solidFill>
                <a:effectLst/>
                <a:latin typeface="Arial" panose="020B0604020202020204" pitchFamily="34" charset="0"/>
              </a:rPr>
              <a:t> of doctors and lab technicians before system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allow doctors and lab technicians to </a:t>
            </a:r>
            <a:r>
              <a:rPr kumimoji="0" lang="en-US" sz="1800" b="1" i="0" u="none" strike="noStrike" cap="none" normalizeH="0" baseline="0" dirty="0" smtClean="0">
                <a:ln>
                  <a:noFill/>
                </a:ln>
                <a:solidFill>
                  <a:schemeClr val="tx1"/>
                </a:solidFill>
                <a:effectLst/>
                <a:latin typeface="Arial" panose="020B0604020202020204" pitchFamily="34" charset="0"/>
              </a:rPr>
              <a:t>upload and manage medical reports digitally</a:t>
            </a:r>
            <a:r>
              <a:rPr kumimoji="0" 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provide </a:t>
            </a:r>
            <a:r>
              <a:rPr kumimoji="0" lang="en-US" sz="1800" b="1" i="0" u="none" strike="noStrike" cap="none" normalizeH="0" baseline="0" dirty="0" smtClean="0">
                <a:ln>
                  <a:noFill/>
                </a:ln>
                <a:solidFill>
                  <a:schemeClr val="tx1"/>
                </a:solidFill>
                <a:effectLst/>
                <a:latin typeface="Arial" panose="020B0604020202020204" pitchFamily="34" charset="0"/>
              </a:rPr>
              <a:t>patient consent-based access</a:t>
            </a:r>
            <a:r>
              <a:rPr kumimoji="0" lang="en-US" sz="1800" b="0" i="0" u="none" strike="noStrike" cap="none" normalizeH="0" baseline="0" dirty="0" smtClean="0">
                <a:ln>
                  <a:noFill/>
                </a:ln>
                <a:solidFill>
                  <a:schemeClr val="tx1"/>
                </a:solidFill>
                <a:effectLst/>
                <a:latin typeface="Arial" panose="020B0604020202020204" pitchFamily="34" charset="0"/>
              </a:rPr>
              <a:t> to doctors for viewing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To support </a:t>
            </a:r>
            <a:r>
              <a:rPr kumimoji="0" lang="en-US" sz="1800" b="1" i="0" u="none" strike="noStrike" cap="none" normalizeH="0" baseline="0" dirty="0" smtClean="0">
                <a:ln>
                  <a:noFill/>
                </a:ln>
                <a:solidFill>
                  <a:schemeClr val="tx1"/>
                </a:solidFill>
                <a:effectLst/>
                <a:latin typeface="Arial" panose="020B0604020202020204" pitchFamily="34" charset="0"/>
              </a:rPr>
              <a:t>emergency access</a:t>
            </a:r>
            <a:r>
              <a:rPr kumimoji="0" lang="en-US" sz="1800" b="0" i="0" u="none" strike="noStrike" cap="none" normalizeH="0" baseline="0" dirty="0" smtClean="0">
                <a:ln>
                  <a:noFill/>
                </a:ln>
                <a:solidFill>
                  <a:schemeClr val="tx1"/>
                </a:solidFill>
                <a:effectLst/>
                <a:latin typeface="Arial" panose="020B0604020202020204" pitchFamily="34" charset="0"/>
              </a:rPr>
              <a:t> through nominee authorization.</a:t>
            </a:r>
          </a:p>
        </p:txBody>
      </p:sp>
    </p:spTree>
    <p:extLst>
      <p:ext uri="{BB962C8B-B14F-4D97-AF65-F5344CB8AC3E}">
        <p14:creationId xmlns:p14="http://schemas.microsoft.com/office/powerpoint/2010/main" val="36863236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Scope of the Project</a:t>
            </a:r>
          </a:p>
        </p:txBody>
      </p:sp>
      <p:sp>
        <p:nvSpPr>
          <p:cNvPr id="3" name="Content Placeholder 2"/>
          <p:cNvSpPr>
            <a:spLocks noGrp="1"/>
          </p:cNvSpPr>
          <p:nvPr>
            <p:ph idx="1"/>
          </p:nvPr>
        </p:nvSpPr>
        <p:spPr/>
        <p:txBody>
          <a:bodyPr>
            <a:normAutofit fontScale="70000" lnSpcReduction="20000"/>
          </a:bodyPr>
          <a:lstStyle/>
          <a:p>
            <a:r>
              <a:rPr lang="en-US" dirty="0"/>
              <a:t>The scope of the Digital Health Card System includes:</a:t>
            </a:r>
          </a:p>
          <a:p>
            <a:r>
              <a:rPr lang="en-US" dirty="0"/>
              <a:t>Secure storage and management of patient health records.</a:t>
            </a:r>
          </a:p>
          <a:p>
            <a:r>
              <a:rPr lang="en-US" dirty="0" err="1"/>
              <a:t>Aadhaar</a:t>
            </a:r>
            <a:r>
              <a:rPr lang="en-US" dirty="0"/>
              <a:t>-based patient identity verification.</a:t>
            </a:r>
          </a:p>
          <a:p>
            <a:r>
              <a:rPr lang="en-US" dirty="0"/>
              <a:t>Digital access to prescriptions, lab reports, and medical history.</a:t>
            </a:r>
          </a:p>
          <a:p>
            <a:r>
              <a:rPr lang="en-US" dirty="0"/>
              <a:t>Admin-controlled verification of healthcare professionals.</a:t>
            </a:r>
          </a:p>
          <a:p>
            <a:r>
              <a:rPr lang="en-US" dirty="0"/>
              <a:t>Consent-based and emergency access mechanisms.</a:t>
            </a:r>
          </a:p>
          <a:p>
            <a:r>
              <a:rPr lang="en-US" dirty="0"/>
              <a:t>The system is designed for </a:t>
            </a:r>
            <a:r>
              <a:rPr lang="en-US" b="1" dirty="0"/>
              <a:t>hospitals, clinics, diagnostic labs, and patients</a:t>
            </a:r>
            <a:r>
              <a:rPr lang="en-US" dirty="0"/>
              <a:t>.</a:t>
            </a:r>
          </a:p>
          <a:p>
            <a:r>
              <a:rPr lang="en-US"/>
              <a:t>The project focuses on </a:t>
            </a:r>
            <a:r>
              <a:rPr lang="en-US" b="1"/>
              <a:t>digital record management</a:t>
            </a:r>
            <a:r>
              <a:rPr lang="en-US"/>
              <a:t> and does not replace medical diagnosis or treatment processes.</a:t>
            </a:r>
          </a:p>
          <a:p>
            <a:endParaRPr lang="en-US" dirty="0"/>
          </a:p>
        </p:txBody>
      </p:sp>
    </p:spTree>
    <p:extLst>
      <p:ext uri="{BB962C8B-B14F-4D97-AF65-F5344CB8AC3E}">
        <p14:creationId xmlns:p14="http://schemas.microsoft.com/office/powerpoint/2010/main" val="23321425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Limitations</a:t>
            </a:r>
          </a:p>
        </p:txBody>
      </p:sp>
      <p:sp>
        <p:nvSpPr>
          <p:cNvPr id="4" name="Rectangle 1"/>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The system does not provide real-time Aadhaar API integration (mock data is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Online payment and insurance claim features are not included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Offline access to medical records is not supported</a:t>
            </a:r>
          </a:p>
        </p:txBody>
      </p:sp>
    </p:spTree>
    <p:extLst>
      <p:ext uri="{BB962C8B-B14F-4D97-AF65-F5344CB8AC3E}">
        <p14:creationId xmlns:p14="http://schemas.microsoft.com/office/powerpoint/2010/main" val="14079356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IN" dirty="0"/>
          </a:p>
        </p:txBody>
      </p:sp>
      <p:sp>
        <p:nvSpPr>
          <p:cNvPr id="3" name="Content Placeholder 2"/>
          <p:cNvSpPr>
            <a:spLocks noGrp="1"/>
          </p:cNvSpPr>
          <p:nvPr>
            <p:ph idx="1"/>
          </p:nvPr>
        </p:nvSpPr>
        <p:spPr/>
        <p:txBody>
          <a:bodyPr/>
          <a:lstStyle/>
          <a:p>
            <a:r>
              <a:rPr lang="en-US" dirty="0"/>
              <a:t>The </a:t>
            </a:r>
            <a:r>
              <a:rPr lang="en-US" b="1" dirty="0"/>
              <a:t>Digital Health Card System</a:t>
            </a:r>
            <a:r>
              <a:rPr lang="en-US" dirty="0"/>
              <a:t> is designed to provide patients with secure digital access to their medical records, eliminating the need to carry physical reports. The system ensures centralized storage, controlled access, and role-based permissions for healthcare stakeholders.</a:t>
            </a:r>
          </a:p>
          <a:p>
            <a:r>
              <a:rPr lang="en-US" dirty="0"/>
              <a:t>The system consists of </a:t>
            </a:r>
            <a:r>
              <a:rPr lang="en-US" b="1" dirty="0"/>
              <a:t>five main entities</a:t>
            </a:r>
            <a:r>
              <a:rPr lang="en-US" dirty="0"/>
              <a:t>:</a:t>
            </a:r>
            <a:br>
              <a:rPr lang="en-US" dirty="0"/>
            </a:br>
            <a:r>
              <a:rPr lang="en-US" b="1" dirty="0"/>
              <a:t>Admin, Patient, Doctor, Nominee, and Lab Technician</a:t>
            </a:r>
            <a:r>
              <a:rPr lang="en-US" dirty="0"/>
              <a:t>.</a:t>
            </a:r>
          </a:p>
          <a:p>
            <a:endParaRPr lang="en-IN" dirty="0"/>
          </a:p>
        </p:txBody>
      </p:sp>
    </p:spTree>
    <p:extLst>
      <p:ext uri="{BB962C8B-B14F-4D97-AF65-F5344CB8AC3E}">
        <p14:creationId xmlns:p14="http://schemas.microsoft.com/office/powerpoint/2010/main" val="2276017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187" y="-503348"/>
            <a:ext cx="10018713" cy="1752599"/>
          </a:xfrm>
        </p:spPr>
        <p:txBody>
          <a:bodyPr/>
          <a:lstStyle/>
          <a:p>
            <a:r>
              <a:rPr lang="en-US" dirty="0" smtClean="0"/>
              <a:t>Use Case Diagram</a:t>
            </a:r>
            <a:endParaRPr lang="en-IN" dirty="0"/>
          </a:p>
        </p:txBody>
      </p:sp>
      <p:pic>
        <p:nvPicPr>
          <p:cNvPr id="4" name="Content Placeholder 3"/>
          <p:cNvPicPr>
            <a:picLocks noGrp="1" noChangeAspect="1"/>
          </p:cNvPicPr>
          <p:nvPr>
            <p:ph idx="1"/>
          </p:nvPr>
        </p:nvPicPr>
        <p:blipFill>
          <a:blip r:embed="rId2"/>
          <a:stretch>
            <a:fillRect/>
          </a:stretch>
        </p:blipFill>
        <p:spPr>
          <a:xfrm>
            <a:off x="478505" y="991673"/>
            <a:ext cx="11206075" cy="5608749"/>
          </a:xfrm>
          <a:prstGeom prst="rect">
            <a:avLst/>
          </a:prstGeom>
        </p:spPr>
      </p:pic>
    </p:spTree>
    <p:extLst>
      <p:ext uri="{BB962C8B-B14F-4D97-AF65-F5344CB8AC3E}">
        <p14:creationId xmlns:p14="http://schemas.microsoft.com/office/powerpoint/2010/main" val="23845041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1661375"/>
            <a:ext cx="7250806" cy="3693319"/>
          </a:xfrm>
          <a:prstGeom prst="rect">
            <a:avLst/>
          </a:prstGeom>
          <a:noFill/>
        </p:spPr>
        <p:txBody>
          <a:bodyPr wrap="square" rtlCol="0">
            <a:spAutoFit/>
          </a:bodyPr>
          <a:lstStyle/>
          <a:p>
            <a:pPr marL="342900" indent="-342900">
              <a:buFont typeface="Wingdings" pitchFamily="2" charset="2"/>
              <a:buChar char="q"/>
            </a:pPr>
            <a:r>
              <a:rPr lang="en-IN" b="1" dirty="0"/>
              <a:t>Hardware Requirements</a:t>
            </a:r>
          </a:p>
          <a:p>
            <a:r>
              <a:rPr lang="en-IN" dirty="0"/>
              <a:t>          Processor: Intel i3 or above</a:t>
            </a:r>
          </a:p>
          <a:p>
            <a:r>
              <a:rPr lang="en-IN" dirty="0"/>
              <a:t>          RAM: Minimum 4 GB</a:t>
            </a:r>
          </a:p>
          <a:p>
            <a:r>
              <a:rPr lang="en-IN" dirty="0"/>
              <a:t>          Storage: 100GB HDD or SSD</a:t>
            </a:r>
          </a:p>
          <a:p>
            <a:endParaRPr lang="en-IN" dirty="0"/>
          </a:p>
          <a:p>
            <a:pPr marL="342900" indent="-342900">
              <a:buFont typeface="Wingdings" pitchFamily="2" charset="2"/>
              <a:buChar char="q"/>
            </a:pPr>
            <a:r>
              <a:rPr lang="en-IN" b="1" dirty="0"/>
              <a:t>Software Requirements</a:t>
            </a:r>
          </a:p>
          <a:p>
            <a:r>
              <a:rPr lang="en-IN" b="1" dirty="0"/>
              <a:t>          </a:t>
            </a:r>
            <a:r>
              <a:rPr lang="en-IN" dirty="0"/>
              <a:t>Operating System: Windows 10 or Later</a:t>
            </a:r>
          </a:p>
          <a:p>
            <a:r>
              <a:rPr lang="en-IN" sz="1600" dirty="0"/>
              <a:t>             </a:t>
            </a:r>
            <a:r>
              <a:rPr lang="en-IN" dirty="0"/>
              <a:t>Frontend: HTML, CSS, </a:t>
            </a:r>
            <a:r>
              <a:rPr lang="en-IN" dirty="0" err="1"/>
              <a:t>Javascript</a:t>
            </a:r>
            <a:r>
              <a:rPr lang="en-IN" dirty="0"/>
              <a:t>,  React.js</a:t>
            </a:r>
          </a:p>
          <a:p>
            <a:r>
              <a:rPr lang="en-IN" dirty="0"/>
              <a:t>           Backend: ASP.NET </a:t>
            </a:r>
            <a:r>
              <a:rPr lang="en-IN" dirty="0" smtClean="0"/>
              <a:t>Core Web App</a:t>
            </a:r>
            <a:endParaRPr lang="en-IN" dirty="0"/>
          </a:p>
          <a:p>
            <a:r>
              <a:rPr lang="en-IN" dirty="0"/>
              <a:t>           Database: </a:t>
            </a:r>
            <a:r>
              <a:rPr lang="en-IN" dirty="0" smtClean="0"/>
              <a:t>MYSQL</a:t>
            </a:r>
            <a:endParaRPr lang="en-IN" dirty="0"/>
          </a:p>
          <a:p>
            <a:r>
              <a:rPr lang="en-IN" dirty="0"/>
              <a:t>           Server: </a:t>
            </a:r>
            <a:r>
              <a:rPr lang="en-IN" dirty="0" smtClean="0"/>
              <a:t>http</a:t>
            </a:r>
            <a:endParaRPr lang="en-IN" dirty="0"/>
          </a:p>
          <a:p>
            <a:r>
              <a:rPr lang="en-IN" dirty="0"/>
              <a:t>           IDE: Visual Studio, VS Code</a:t>
            </a:r>
          </a:p>
          <a:p>
            <a:endParaRPr lang="en-IN" dirty="0"/>
          </a:p>
        </p:txBody>
      </p:sp>
      <p:sp>
        <p:nvSpPr>
          <p:cNvPr id="3" name="Rectangle 2"/>
          <p:cNvSpPr/>
          <p:nvPr/>
        </p:nvSpPr>
        <p:spPr>
          <a:xfrm>
            <a:off x="1590057" y="436739"/>
            <a:ext cx="8290668" cy="707886"/>
          </a:xfrm>
          <a:prstGeom prst="rect">
            <a:avLst/>
          </a:prstGeom>
        </p:spPr>
        <p:txBody>
          <a:bodyPr wrap="none">
            <a:spAutoFit/>
          </a:bodyPr>
          <a:lstStyle/>
          <a:p>
            <a:pPr algn="ctr"/>
            <a:r>
              <a:rPr lang="en-IN" sz="4000" b="1" dirty="0"/>
              <a:t>Software</a:t>
            </a:r>
            <a:r>
              <a:rPr lang="en-IN" dirty="0"/>
              <a:t> </a:t>
            </a:r>
            <a:r>
              <a:rPr lang="en-IN" sz="4000" b="1" dirty="0"/>
              <a:t>Requirements</a:t>
            </a:r>
            <a:r>
              <a:rPr lang="en-IN" dirty="0"/>
              <a:t> </a:t>
            </a:r>
            <a:r>
              <a:rPr lang="en-IN" sz="4000" b="1" dirty="0"/>
              <a:t>Specification</a:t>
            </a:r>
            <a:endParaRPr lang="en-IN" sz="4000" b="1" dirty="0"/>
          </a:p>
        </p:txBody>
      </p:sp>
    </p:spTree>
    <p:extLst>
      <p:ext uri="{BB962C8B-B14F-4D97-AF65-F5344CB8AC3E}">
        <p14:creationId xmlns:p14="http://schemas.microsoft.com/office/powerpoint/2010/main" val="2497168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IN" dirty="0"/>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Digital Health Card System</a:t>
            </a:r>
            <a:r>
              <a:rPr lang="en-US" dirty="0"/>
              <a:t> successfully provides a secure and efficient platform for managing patient medical records digitally. By eliminating the need for physical reports and introducing </a:t>
            </a:r>
            <a:r>
              <a:rPr lang="en-US" dirty="0" err="1"/>
              <a:t>Aadhaar</a:t>
            </a:r>
            <a:r>
              <a:rPr lang="en-US" dirty="0"/>
              <a:t>-based authentication, the system ensures easy access and improved reliability of medical data. Role-based access control and admin verification enhance system security, while digital report uploads by doctors and lab technicians ensure accurate and up-to-date medical information. The emergency access feature further strengthens the system by enabling timely treatment during critical situations. Overall, the system contributes to a more organized, accessible, and patient-centric healthcare management approach and has the potential for future expansion with advanced technologies and real-world integrations.</a:t>
            </a:r>
            <a:endParaRPr lang="en-IN" dirty="0"/>
          </a:p>
        </p:txBody>
      </p:sp>
    </p:spTree>
    <p:extLst>
      <p:ext uri="{BB962C8B-B14F-4D97-AF65-F5344CB8AC3E}">
        <p14:creationId xmlns:p14="http://schemas.microsoft.com/office/powerpoint/2010/main" val="33308180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IN" dirty="0"/>
          </a:p>
        </p:txBody>
      </p:sp>
      <p:sp>
        <p:nvSpPr>
          <p:cNvPr id="5" name="Rectangle 2"/>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Integration with </a:t>
            </a:r>
            <a:r>
              <a:rPr kumimoji="0" lang="en-US" sz="1800" b="1" i="0" u="none" strike="noStrike" cap="none" normalizeH="0" baseline="0" smtClean="0">
                <a:ln>
                  <a:noFill/>
                </a:ln>
                <a:solidFill>
                  <a:schemeClr val="tx1"/>
                </a:solidFill>
                <a:effectLst/>
                <a:latin typeface="Arial" panose="020B0604020202020204" pitchFamily="34" charset="0"/>
              </a:rPr>
              <a:t>real Aadhaar APIs</a:t>
            </a:r>
            <a:r>
              <a:rPr kumimoji="0" lang="en-US" sz="1800" b="0" i="0" u="none" strike="noStrike" cap="none" normalizeH="0" baseline="0" smtClean="0">
                <a:ln>
                  <a:noFill/>
                </a:ln>
                <a:solidFill>
                  <a:schemeClr val="tx1"/>
                </a:solidFill>
                <a:effectLst/>
                <a:latin typeface="Arial" panose="020B0604020202020204" pitchFamily="34" charset="0"/>
              </a:rPr>
              <a:t> for live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Mobile application version of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Biometric authentication for enhanced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AI-based health analysis and report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Integration with hospitals and pharmacies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Blockchain-based storage for tamper-proof medical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Appointment scheduling and notification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smtClean="0">
                <a:ln>
                  <a:noFill/>
                </a:ln>
                <a:solidFill>
                  <a:schemeClr val="tx1"/>
                </a:solidFill>
                <a:effectLst/>
                <a:latin typeface="Arial" panose="020B0604020202020204" pitchFamily="34" charset="0"/>
              </a:rPr>
              <a:t>Multi-language support for wider accessibility</a:t>
            </a:r>
          </a:p>
        </p:txBody>
      </p:sp>
    </p:spTree>
    <p:extLst>
      <p:ext uri="{BB962C8B-B14F-4D97-AF65-F5344CB8AC3E}">
        <p14:creationId xmlns:p14="http://schemas.microsoft.com/office/powerpoint/2010/main" val="39808056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117</TotalTime>
  <Words>984</Words>
  <Application>Microsoft Office PowerPoint</Application>
  <PresentationFormat>Widescreen</PresentationFormat>
  <Paragraphs>66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Corbel</vt:lpstr>
      <vt:lpstr>Wingdings</vt:lpstr>
      <vt:lpstr>Parallax</vt:lpstr>
      <vt:lpstr>Digital Health Card</vt:lpstr>
      <vt:lpstr>Abstract</vt:lpstr>
      <vt:lpstr>Introduction</vt:lpstr>
      <vt:lpstr>Problem Statement</vt:lpstr>
      <vt:lpstr>Aim</vt:lpstr>
      <vt:lpstr>Objective</vt:lpstr>
      <vt:lpstr>Scope of the Project</vt:lpstr>
      <vt:lpstr>Limitations</vt:lpstr>
      <vt:lpstr>Project Overview</vt:lpstr>
      <vt:lpstr>Use Case Diagram</vt:lpstr>
      <vt:lpstr>PowerPoint Presentation</vt:lpstr>
      <vt:lpstr>Conclusion</vt:lpstr>
      <vt:lpstr>Future Scope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Health Card</dc:title>
  <dc:creator>DELL</dc:creator>
  <cp:lastModifiedBy>DELL</cp:lastModifiedBy>
  <cp:revision>9</cp:revision>
  <dcterms:created xsi:type="dcterms:W3CDTF">2026-01-29T12:33:17Z</dcterms:created>
  <dcterms:modified xsi:type="dcterms:W3CDTF">2026-01-30T18:07:57Z</dcterms:modified>
</cp:coreProperties>
</file>